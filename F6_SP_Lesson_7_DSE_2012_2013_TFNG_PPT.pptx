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Lesson 7 focus: the True / False / Not Given question type.</a:t>
            </a:r>
          </a:p>
          <a:p>
            <a:r>
              <a:rPr sz="1200"/>
              <a:t>8 questions, 28 statements, 28 marks, taken from the 2012 and 2013 DSE English Paper 1 (Parts A, B1 and B2).</a:t>
            </a:r>
          </a:p>
          <a:p>
            <a:r>
              <a:rPr sz="1200"/>
              <a:t>Each slide gives the exam instruction, the statements, and the exam paragraph(s) to read.</a:t>
            </a:r>
          </a:p>
          <a:p>
            <a:r>
              <a:rPr sz="1200"/>
              <a:t>Answers and candidate percentages come from the official marking schemes.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Ask students to decide every statement BEFORE clicking.</a:t>
            </a:r>
          </a:p>
          <a:p>
            <a:r>
              <a:rPr sz="1200"/>
              <a:t>Click 1..4: one click per statement — the tick and the candidate percentage appear together.</a:t>
            </a:r>
          </a:p>
          <a:p>
            <a:r>
              <a:rPr sz="1200"/>
              <a:t>Answer key (Q8): T / F / F / T</a:t>
            </a:r>
          </a:p>
          <a:p>
            <a:r>
              <a:rPr sz="1200"/>
              <a:t>Then ask: which words in the paragraph prove it?</a:t>
            </a:r>
          </a:p>
          <a:p>
            <a:r>
              <a:rPr sz="1200"/>
              <a:t>(i) T (78%) — “for that price you get to try out any game for an hour. Buy another drink and play for another hour.” (lines 34–36)</a:t>
            </a:r>
          </a:p>
          <a:p>
            <a:r>
              <a:rPr sz="1200"/>
              <a:t>(j) F (39%) — “most of them imported from Germany and the US. There’s little foreign text to slow you down, and anyway you get Thai instructions and the staff can help with the rules.” (lines 37–41)</a:t>
            </a:r>
          </a:p>
          <a:p>
            <a:r>
              <a:rPr sz="1200"/>
              <a:t>(k) F (82%) — “I played nothing but Monopoly, Uno and Snakes &amp; Ladders when I was a child,’ says Pat” (lines 42–44)</a:t>
            </a:r>
          </a:p>
          <a:p>
            <a:r>
              <a:rPr sz="1200"/>
              <a:t>(l) T (72%) — “I found a lot of interesting board games that were more challenging than anything on the computer.” (lines 47–49)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Ask students to decide every statement BEFORE clicking.</a:t>
            </a:r>
          </a:p>
          <a:p>
            <a:r>
              <a:rPr sz="1200"/>
              <a:t>Click 1..4: one click per statement — the tick and the candidate percentage appear together.</a:t>
            </a:r>
          </a:p>
          <a:p>
            <a:r>
              <a:rPr sz="1200"/>
              <a:t>Answer key (Q34): F / T / NG / T</a:t>
            </a:r>
          </a:p>
          <a:p>
            <a:r>
              <a:rPr sz="1200"/>
              <a:t>Then ask: which words in the paragraph prove it?</a:t>
            </a:r>
          </a:p>
          <a:p>
            <a:r>
              <a:rPr sz="1200"/>
              <a:t>(i) F (62%) — ¶21 — an adult is sewing too: “I’m sewing together the beautiful strips that the kids have made,’ she [Phyllis Smith] says.” (lines 97–99)</a:t>
            </a:r>
          </a:p>
          <a:p>
            <a:r>
              <a:rPr sz="1200"/>
              <a:t>(j) T (68%) — ¶14 — “fourteen-year-old Rachel and her brother Jacob, who is two years younger” (lines 69–71)</a:t>
            </a:r>
          </a:p>
          <a:p>
            <a:r>
              <a:rPr sz="1200"/>
              <a:t>(k) NG (64%) — ¶16 tells us about Jacob’s pledge and ¶17 about Patrick’s — the text never says the two boys are classmates (lines 76–83)</a:t>
            </a:r>
          </a:p>
          <a:p>
            <a:r>
              <a:rPr sz="1200"/>
              <a:t>(l) T (59%) — ¶17 “a chance for him to lend a hand and express his creativity” and ¶18 “I drew some smiley faces to reflect my personality.” (lines 81–87)</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Ask students to decide every statement BEFORE clicking.</a:t>
            </a:r>
          </a:p>
          <a:p>
            <a:r>
              <a:rPr sz="1200"/>
              <a:t>Click 1..3: one click per statement — the tick and the candidate percentage appear together.</a:t>
            </a:r>
          </a:p>
          <a:p>
            <a:r>
              <a:rPr sz="1200"/>
              <a:t>Answer key (Q51): NG / T / F</a:t>
            </a:r>
          </a:p>
          <a:p>
            <a:r>
              <a:rPr sz="1200"/>
              <a:t>Then ask: which words in the paragraph prove it?</a:t>
            </a:r>
          </a:p>
          <a:p>
            <a:r>
              <a:rPr sz="1200"/>
              <a:t>(i) NG (82%) — ¶2 only says Amy Chua “is of Filipino-Chinese descent and lives in the U.S., not in China” — where she was born is not given (lines 5–6)</a:t>
            </a:r>
          </a:p>
          <a:p>
            <a:r>
              <a:rPr sz="1200"/>
              <a:t>(j) T (79%) — ¶2–¶3 contrast Guo with Chua: “I won’t be like Amy Chua … I don’t want to pressure them” and her sons love their hobbies “not because she forces them into it” — i.e. Chua does force hers (lines 6–12)</a:t>
            </a:r>
          </a:p>
          <a:p>
            <a:r>
              <a:rPr sz="1200"/>
              <a:t>(k) F (84%) — ¶3 “Guo says she believes her sons love their extracurricular hobbies, such as painting and learning how to play weiqi” (lines 10–12)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Ask students to decide every statement BEFORE clicking.</a:t>
            </a:r>
          </a:p>
          <a:p>
            <a:r>
              <a:rPr sz="1200"/>
              <a:t>Click 1..3: one click per statement — the tick and the candidate percentage appear together.</a:t>
            </a:r>
          </a:p>
          <a:p>
            <a:r>
              <a:rPr sz="1200"/>
              <a:t>Answer key (Q6): NG / T / F</a:t>
            </a:r>
          </a:p>
          <a:p>
            <a:r>
              <a:rPr sz="1200"/>
              <a:t>Then ask: which words in the paragraph prove it?</a:t>
            </a:r>
          </a:p>
          <a:p>
            <a:r>
              <a:rPr sz="1200"/>
              <a:t>Note: statement (iv) of the original paper was deleted by HKEAA — it is not shown to students and is not marked.</a:t>
            </a:r>
          </a:p>
          <a:p>
            <a:r>
              <a:rPr sz="1200"/>
              <a:t>(i) NG (72%) — ¶2 calls them “three middle-aged women” and gives only Yang’s age (“a cheerful 57-year-old”) — the ages of the other two are not given (lines 6–10)</a:t>
            </a:r>
          </a:p>
          <a:p>
            <a:r>
              <a:rPr sz="1200"/>
              <a:t>(j) T (61%) — ¶2 — “the celebrated (and still dimly understood) burial complex of China’s first emperor, Qin Shi Huang Di” (lines 16–19)</a:t>
            </a:r>
          </a:p>
          <a:p>
            <a:r>
              <a:rPr sz="1200"/>
              <a:t>(k) F (67%) — ¶3 — “It usually takes Yang and her co-workers many days … but today they are lucky, accomplishing the task in a matter of hours.” (lines 20–24)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Ask students to decide every statement BEFORE clicking.</a:t>
            </a:r>
          </a:p>
          <a:p>
            <a:r>
              <a:rPr sz="1200"/>
              <a:t>Click 1..3: one click per statement — the tick and the candidate percentage appear together.</a:t>
            </a:r>
          </a:p>
          <a:p>
            <a:r>
              <a:rPr sz="1200"/>
              <a:t>Answer key (Q21): T / F / F</a:t>
            </a:r>
          </a:p>
          <a:p>
            <a:r>
              <a:rPr sz="1200"/>
              <a:t>Then ask: which words in the paragraph prove it?</a:t>
            </a:r>
          </a:p>
          <a:p>
            <a:r>
              <a:rPr sz="1200"/>
              <a:t>(i) T (64%) — ¶11 — “With less than one percent of the vast tomb complex excavated so far” (lines 119–120)</a:t>
            </a:r>
          </a:p>
          <a:p>
            <a:r>
              <a:rPr sz="1200"/>
              <a:t>(j) F (68%) — ¶11 — “the pace of discovery is quickening”: the opposite is true (line 122)</a:t>
            </a:r>
          </a:p>
          <a:p>
            <a:r>
              <a:rPr sz="1200"/>
              <a:t>(k) F (40%) — ¶11 — “In 2011 the museum launched two long-term excavation projects on the flanks of the 250-foot-high central burial mound”: it started them, it did not finish (lines 122–125)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Ask students to decide every statement BEFORE clicking.</a:t>
            </a:r>
          </a:p>
          <a:p>
            <a:r>
              <a:rPr sz="1200"/>
              <a:t>Click 1..4: one click per statement — the tick and the candidate percentage appear together.</a:t>
            </a:r>
          </a:p>
          <a:p>
            <a:r>
              <a:rPr sz="1200"/>
              <a:t>Answer key (Q32): T / NG / F / T</a:t>
            </a:r>
          </a:p>
          <a:p>
            <a:r>
              <a:rPr sz="1200"/>
              <a:t>Then ask: which words in the paragraph prove it?</a:t>
            </a:r>
          </a:p>
          <a:p>
            <a:r>
              <a:rPr sz="1200"/>
              <a:t>(i) T (83%) — ¶6 — “The school offers guzheng classes to children and adults taught by Zou.” (lines 33–34)</a:t>
            </a:r>
          </a:p>
          <a:p>
            <a:r>
              <a:rPr sz="1200"/>
              <a:t>(j) NG (67%) — the text says the guzheng is “one of the most loved Chinese instruments” and that Zou plays it, but it never says it is her favourite (lines 8–10)</a:t>
            </a:r>
          </a:p>
          <a:p>
            <a:r>
              <a:rPr sz="1200"/>
              <a:t>(k) F (76%) — ¶5 — “Zou, born into a family of guzheng musicians who go back four generations” (lines 23–24)</a:t>
            </a:r>
          </a:p>
          <a:p>
            <a:r>
              <a:rPr sz="1200"/>
              <a:t>(l) T (51%) — ¶5 — “She has played for celebrities and politicians who include the former prime ministers of Australia and New Zealand, and former president Jiang Zemin.” (lines 25–29)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Ask students to decide every statement BEFORE clicking.</a:t>
            </a:r>
          </a:p>
          <a:p>
            <a:r>
              <a:rPr sz="1200"/>
              <a:t>Click 1..3: one click per statement — the tick and the candidate percentage appear together.</a:t>
            </a:r>
          </a:p>
          <a:p>
            <a:r>
              <a:rPr sz="1200"/>
              <a:t>Answer key (Q42): T / F / T</a:t>
            </a:r>
          </a:p>
          <a:p>
            <a:r>
              <a:rPr sz="1200"/>
              <a:t>Then ask: which words in the paragraph prove it?</a:t>
            </a:r>
          </a:p>
          <a:p>
            <a:r>
              <a:rPr sz="1200"/>
              <a:t>(i) T (57%) — ¶7 — “people with low self-esteem may feel that Facebook is a risk-free forum for making personal disclosures” (lines 59–60)</a:t>
            </a:r>
          </a:p>
          <a:p>
            <a:r>
              <a:rPr sz="1200"/>
              <a:t>(j) F (36%) — ¶8 — face to face “you might get an indication that they don’t like it”, but “On Facebook, you don’t see most of the reactions”: the reverse is true (lines 36–40)</a:t>
            </a:r>
          </a:p>
          <a:p>
            <a:r>
              <a:rPr sz="1200"/>
              <a:t>(k) T (47%) — ¶9 — “although the strongest desires were for sleep, checking work e-mails and updating a Facebook status are this generation’s actual nocturnal activities” (lines 46–51)</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t>Ask students to decide every statement BEFORE clicking.</a:t>
            </a:r>
          </a:p>
          <a:p>
            <a:r>
              <a:rPr sz="1200"/>
              <a:t>Click 1..4: one click per statement — the tick and the candidate percentage appear together.</a:t>
            </a:r>
          </a:p>
          <a:p>
            <a:r>
              <a:rPr sz="1200"/>
              <a:t>Answer key (Q52): F / T / NG / F</a:t>
            </a:r>
          </a:p>
          <a:p>
            <a:r>
              <a:rPr sz="1200"/>
              <a:t>Then ask: which words in the paragraph prove it?</a:t>
            </a:r>
          </a:p>
          <a:p>
            <a:r>
              <a:rPr sz="1200"/>
              <a:t>(i) F (84%) — ¶4 — “Collins’s trilogy is only the most visible example of a recent boom in dystopian fiction for young people.” (lines 39–40)</a:t>
            </a:r>
          </a:p>
          <a:p>
            <a:r>
              <a:rPr sz="1200"/>
              <a:t>(j) T (88%) — ¶4 — “all sixteen-year-olds undergo surgery to conform to a universal standard of prettiness” (lines 44–46)</a:t>
            </a:r>
          </a:p>
          <a:p>
            <a:r>
              <a:rPr sz="1200"/>
              <a:t>(k) NG (87%) — ¶4–¶5 say nothing about the age of the people posting on the discussion board (lines 39–80)</a:t>
            </a:r>
          </a:p>
          <a:p>
            <a:r>
              <a:rPr sz="1200"/>
              <a:t>(l) F (68%) — ¶5 — they are “twentieth century’s dystopian classics for adults” that schoolchildren are “assigned to read” (lines 76–80)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84048"/>
            <a:ext cx="12188952" cy="6473952"/>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1"/>
          <p:cNvSpPr txBox="1"/>
          <p:nvPr/>
        </p:nvSpPr>
        <p:spPr>
          <a:xfrm>
            <a:off x="502920" y="274320"/>
            <a:ext cx="8686800" cy="320040"/>
          </a:xfrm>
          <a:prstGeom prst="rect">
            <a:avLst/>
          </a:prstGeom>
          <a:noFill/>
        </p:spPr>
        <p:txBody>
          <a:bodyPr wrap="square" anchor="t" lIns="0" rIns="0" tIns="0" bIns="0">
            <a:spAutoFit/>
          </a:bodyPr>
          <a:lstStyle/>
          <a:p>
            <a:pPr algn="l"/>
            <a:r>
              <a:rPr sz="1000" b="1" i="0">
                <a:solidFill>
                  <a:srgbClr val="45B7A5"/>
                </a:solidFill>
                <a:latin typeface="Aptos"/>
              </a:rPr>
              <a:t>F.6 SP ENGLISH  •  DSE 2012 &amp; 2013 PAPER 1</a:t>
            </a:r>
          </a:p>
        </p:txBody>
      </p:sp>
      <p:sp>
        <p:nvSpPr>
          <p:cNvPr id="5" name="Oval 4"/>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146536"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1112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49400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1"/>
          <p:cNvSpPr txBox="1"/>
          <p:nvPr/>
        </p:nvSpPr>
        <p:spPr>
          <a:xfrm>
            <a:off x="502920" y="822960"/>
            <a:ext cx="7315200" cy="731520"/>
          </a:xfrm>
          <a:prstGeom prst="rect">
            <a:avLst/>
          </a:prstGeom>
          <a:noFill/>
        </p:spPr>
        <p:txBody>
          <a:bodyPr wrap="square" anchor="t" lIns="0" rIns="0" tIns="0" bIns="0">
            <a:spAutoFit/>
          </a:bodyPr>
          <a:lstStyle/>
          <a:p>
            <a:pPr algn="l"/>
            <a:r>
              <a:rPr sz="3000" b="1" i="0">
                <a:solidFill>
                  <a:srgbClr val="17365D"/>
                </a:solidFill>
                <a:latin typeface="Aptos"/>
              </a:rPr>
              <a:t>English SP</a:t>
            </a:r>
          </a:p>
        </p:txBody>
      </p:sp>
      <p:sp>
        <p:nvSpPr>
          <p:cNvPr id="10" name="t2"/>
          <p:cNvSpPr txBox="1"/>
          <p:nvPr/>
        </p:nvSpPr>
        <p:spPr>
          <a:xfrm>
            <a:off x="502920" y="1691640"/>
            <a:ext cx="6766560" cy="1737360"/>
          </a:xfrm>
          <a:prstGeom prst="rect">
            <a:avLst/>
          </a:prstGeom>
          <a:noFill/>
        </p:spPr>
        <p:txBody>
          <a:bodyPr wrap="square" anchor="t" lIns="0" rIns="0" tIns="0" bIns="0">
            <a:spAutoFit/>
          </a:bodyPr>
          <a:lstStyle/>
          <a:p>
            <a:pPr algn="l"/>
            <a:r>
              <a:rPr sz="3800" b="1" i="0">
                <a:solidFill>
                  <a:srgbClr val="17365D"/>
                </a:solidFill>
                <a:latin typeface="Aptos"/>
              </a:rPr>
              <a:t>True / False / Not Given</a:t>
            </a:r>
          </a:p>
          <a:p>
            <a:pPr algn="l"/>
            <a:r>
              <a:rPr sz="1000" b="0" i="0">
                <a:solidFill>
                  <a:srgbClr val="17365D"/>
                </a:solidFill>
                <a:latin typeface="Aptos"/>
              </a:rPr>
              <a:t/>
            </a:r>
          </a:p>
          <a:p>
            <a:pPr algn="l"/>
            <a:r>
              <a:rPr sz="1700" b="0" i="0">
                <a:solidFill>
                  <a:srgbClr val="5B7083"/>
                </a:solidFill>
                <a:latin typeface="Aptos"/>
              </a:rPr>
              <a:t>One question type — eight real exam questions from the 2012 and 2013 DSE English Paper 1</a:t>
            </a:r>
          </a:p>
        </p:txBody>
      </p:sp>
      <p:sp>
        <p:nvSpPr>
          <p:cNvPr id="11" name="t3"/>
          <p:cNvSpPr txBox="1"/>
          <p:nvPr/>
        </p:nvSpPr>
        <p:spPr>
          <a:xfrm>
            <a:off x="502920" y="3566160"/>
            <a:ext cx="6766560" cy="457200"/>
          </a:xfrm>
          <a:prstGeom prst="rect">
            <a:avLst/>
          </a:prstGeom>
          <a:noFill/>
        </p:spPr>
        <p:txBody>
          <a:bodyPr wrap="square" anchor="t" lIns="0" rIns="0" tIns="0" bIns="0">
            <a:spAutoFit/>
          </a:bodyPr>
          <a:lstStyle/>
          <a:p>
            <a:pPr algn="l"/>
            <a:r>
              <a:rPr sz="2000" b="1" i="0">
                <a:solidFill>
                  <a:srgbClr val="2F75B5"/>
                </a:solidFill>
                <a:latin typeface="Aptos"/>
              </a:rPr>
              <a:t>Reading comprehension — the three-way choice</a:t>
            </a:r>
          </a:p>
        </p:txBody>
      </p:sp>
      <p:sp>
        <p:nvSpPr>
          <p:cNvPr id="12" name="Rounded Rectangle 11"/>
          <p:cNvSpPr/>
          <p:nvPr/>
        </p:nvSpPr>
        <p:spPr>
          <a:xfrm>
            <a:off x="7498079" y="1783080"/>
            <a:ext cx="3931920" cy="2743200"/>
          </a:xfrm>
          <a:prstGeom prst="roundRect">
            <a:avLst/>
          </a:prstGeom>
          <a:solidFill>
            <a:srgbClr val="EE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4"/>
          <p:cNvSpPr txBox="1"/>
          <p:nvPr/>
        </p:nvSpPr>
        <p:spPr>
          <a:xfrm>
            <a:off x="7726679" y="2011680"/>
            <a:ext cx="3474720" cy="411480"/>
          </a:xfrm>
          <a:prstGeom prst="rect">
            <a:avLst/>
          </a:prstGeom>
          <a:noFill/>
        </p:spPr>
        <p:txBody>
          <a:bodyPr wrap="square" anchor="t" lIns="0" rIns="0" tIns="0" bIns="0">
            <a:spAutoFit/>
          </a:bodyPr>
          <a:lstStyle/>
          <a:p>
            <a:pPr algn="l"/>
            <a:r>
              <a:rPr sz="1400" b="1" i="0">
                <a:solidFill>
                  <a:srgbClr val="2F75B5"/>
                </a:solidFill>
                <a:latin typeface="Aptos"/>
              </a:rPr>
              <a:t>TODAY’S lesson</a:t>
            </a:r>
          </a:p>
        </p:txBody>
      </p:sp>
      <p:sp>
        <p:nvSpPr>
          <p:cNvPr id="14" name="t5"/>
          <p:cNvSpPr txBox="1"/>
          <p:nvPr/>
        </p:nvSpPr>
        <p:spPr>
          <a:xfrm>
            <a:off x="7726679" y="2514600"/>
            <a:ext cx="3474720" cy="1828800"/>
          </a:xfrm>
          <a:prstGeom prst="rect">
            <a:avLst/>
          </a:prstGeom>
          <a:noFill/>
        </p:spPr>
        <p:txBody>
          <a:bodyPr wrap="square" anchor="t" lIns="0" rIns="0" tIns="0" bIns="0">
            <a:spAutoFit/>
          </a:bodyPr>
          <a:lstStyle/>
          <a:p>
            <a:pPr algn="l"/>
            <a:r>
              <a:rPr sz="1600" b="1" i="0">
                <a:solidFill>
                  <a:srgbClr val="17365D"/>
                </a:solidFill>
                <a:latin typeface="Aptos"/>
              </a:rPr>
              <a:t>8 exam questions</a:t>
            </a:r>
          </a:p>
          <a:p>
            <a:pPr algn="l"/>
            <a:r>
              <a:rPr sz="1600" b="1" i="0">
                <a:solidFill>
                  <a:srgbClr val="17365D"/>
                </a:solidFill>
                <a:latin typeface="Aptos"/>
              </a:rPr>
              <a:t>28 statements (28 marks)</a:t>
            </a:r>
          </a:p>
          <a:p>
            <a:pPr algn="l"/>
            <a:r>
              <a:rPr sz="800" b="0" i="0">
                <a:solidFill>
                  <a:srgbClr val="17365D"/>
                </a:solidFill>
                <a:latin typeface="Aptos"/>
              </a:rPr>
              <a:t/>
            </a:r>
          </a:p>
          <a:p>
            <a:pPr algn="l"/>
            <a:r>
              <a:rPr sz="1300" b="0" i="0">
                <a:solidFill>
                  <a:srgbClr val="17365D"/>
                </a:solidFill>
                <a:latin typeface="Aptos"/>
              </a:rPr>
              <a:t>2012: Part A, B1, B2</a:t>
            </a:r>
          </a:p>
          <a:p>
            <a:pPr algn="l"/>
            <a:r>
              <a:rPr sz="1300" b="0" i="0">
                <a:solidFill>
                  <a:srgbClr val="17365D"/>
                </a:solidFill>
                <a:latin typeface="Aptos"/>
              </a:rPr>
              <a:t>2013: Part A, B1, B2</a:t>
            </a:r>
          </a:p>
        </p:txBody>
      </p:sp>
      <p:sp>
        <p:nvSpPr>
          <p:cNvPr id="15" name="t6"/>
          <p:cNvSpPr txBox="1"/>
          <p:nvPr/>
        </p:nvSpPr>
        <p:spPr>
          <a:xfrm>
            <a:off x="502920" y="6309360"/>
            <a:ext cx="8229600" cy="365760"/>
          </a:xfrm>
          <a:prstGeom prst="rect">
            <a:avLst/>
          </a:prstGeom>
          <a:noFill/>
        </p:spPr>
        <p:txBody>
          <a:bodyPr wrap="square" anchor="t" lIns="0" rIns="0" tIns="0" bIns="0">
            <a:spAutoFit/>
          </a:bodyPr>
          <a:lstStyle/>
          <a:p>
            <a:pPr algn="l"/>
            <a:r>
              <a:rPr sz="1100" b="0" i="0">
                <a:solidFill>
                  <a:srgbClr val="5B7083"/>
                </a:solidFill>
                <a:latin typeface="Aptos"/>
              </a:rPr>
              <a:t>DSE 2012 &amp; 2013 Paper 1  •  True / False / Not Given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84048"/>
            <a:ext cx="12188952" cy="6473952"/>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02920" y="274320"/>
            <a:ext cx="8686800" cy="320040"/>
          </a:xfrm>
          <a:prstGeom prst="rect">
            <a:avLst/>
          </a:prstGeom>
          <a:noFill/>
        </p:spPr>
        <p:txBody>
          <a:bodyPr wrap="square" anchor="t" lIns="0" rIns="0" tIns="0" bIns="0">
            <a:spAutoFit/>
          </a:bodyPr>
          <a:lstStyle/>
          <a:p>
            <a:pPr algn="l"/>
            <a:r>
              <a:rPr sz="1000" b="1" i="0">
                <a:solidFill>
                  <a:srgbClr val="45B7A5"/>
                </a:solidFill>
                <a:latin typeface="Aptos"/>
              </a:rPr>
              <a:t>T / F / NG QUESTION 1 OF 8   •   2012 DSE PAPER 1 PART A</a:t>
            </a:r>
          </a:p>
        </p:txBody>
      </p:sp>
      <p:sp>
        <p:nvSpPr>
          <p:cNvPr id="5" name="title"/>
          <p:cNvSpPr txBox="1"/>
          <p:nvPr/>
        </p:nvSpPr>
        <p:spPr>
          <a:xfrm>
            <a:off x="502920" y="621792"/>
            <a:ext cx="10515600" cy="640080"/>
          </a:xfrm>
          <a:prstGeom prst="rect">
            <a:avLst/>
          </a:prstGeom>
          <a:noFill/>
        </p:spPr>
        <p:txBody>
          <a:bodyPr wrap="square" anchor="t" lIns="0" rIns="0" tIns="0" bIns="0">
            <a:spAutoFit/>
          </a:bodyPr>
          <a:lstStyle/>
          <a:p>
            <a:pPr algn="l"/>
            <a:r>
              <a:rPr sz="2600" b="1" i="0">
                <a:solidFill>
                  <a:srgbClr val="17365D"/>
                </a:solidFill>
                <a:latin typeface="Aptos"/>
              </a:rPr>
              <a:t>Read the paragraph — then decide: True / False / Not Given</a:t>
            </a:r>
          </a:p>
        </p:txBody>
      </p:sp>
      <p:sp>
        <p:nvSpPr>
          <p:cNvPr id="6" name="Oval 5"/>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46536"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1112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9400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meta1"/>
          <p:cNvSpPr txBox="1"/>
          <p:nvPr/>
        </p:nvSpPr>
        <p:spPr>
          <a:xfrm>
            <a:off x="8503920" y="274320"/>
            <a:ext cx="3108960" cy="320040"/>
          </a:xfrm>
          <a:prstGeom prst="rect">
            <a:avLst/>
          </a:prstGeom>
          <a:noFill/>
        </p:spPr>
        <p:txBody>
          <a:bodyPr wrap="square" anchor="t" lIns="0" rIns="0" tIns="0" bIns="0">
            <a:spAutoFit/>
          </a:bodyPr>
          <a:lstStyle/>
          <a:p>
            <a:pPr algn="r"/>
            <a:r>
              <a:rPr sz="1200" b="1" i="0">
                <a:solidFill>
                  <a:srgbClr val="5B7083"/>
                </a:solidFill>
                <a:latin typeface="Aptos"/>
              </a:rPr>
              <a:t>Q8  •  4 marks  •  Text 1, paragraphs 8-9</a:t>
            </a:r>
          </a:p>
        </p:txBody>
      </p:sp>
      <p:sp>
        <p:nvSpPr>
          <p:cNvPr id="11" name="instr1"/>
          <p:cNvSpPr txBox="1"/>
          <p:nvPr/>
        </p:nvSpPr>
        <p:spPr>
          <a:xfrm>
            <a:off x="6492240" y="1060704"/>
            <a:ext cx="5440680" cy="777240"/>
          </a:xfrm>
          <a:prstGeom prst="rect">
            <a:avLst/>
          </a:prstGeom>
          <a:noFill/>
        </p:spPr>
        <p:txBody>
          <a:bodyPr wrap="square" anchor="t" lIns="0" rIns="0" tIns="0" bIns="0">
            <a:spAutoFit/>
          </a:bodyPr>
          <a:lstStyle/>
          <a:p>
            <a:pPr algn="l"/>
            <a:r>
              <a:rPr sz="1050" b="0" i="0">
                <a:solidFill>
                  <a:srgbClr val="17365D"/>
                </a:solidFill>
                <a:latin typeface="Aptos"/>
              </a:rPr>
              <a:t>Decide whether the following statements are True, False, or the information is Not Given in paragraphs 8-9. Put a tick (✓) in the appropriate column. (4 marks)</a:t>
            </a:r>
          </a:p>
        </p:txBody>
      </p:sp>
      <p:sp>
        <p:nvSpPr>
          <p:cNvPr id="12" name="q1_stmt1"/>
          <p:cNvSpPr txBox="1"/>
          <p:nvPr/>
        </p:nvSpPr>
        <p:spPr>
          <a:xfrm>
            <a:off x="6492240" y="1938528"/>
            <a:ext cx="3977639" cy="502920"/>
          </a:xfrm>
          <a:prstGeom prst="rect">
            <a:avLst/>
          </a:prstGeom>
          <a:noFill/>
        </p:spPr>
        <p:txBody>
          <a:bodyPr wrap="square" anchor="t" lIns="0" rIns="0" tIns="0" bIns="0">
            <a:spAutoFit/>
          </a:bodyPr>
          <a:lstStyle/>
          <a:p>
            <a:pPr algn="l"/>
            <a:r>
              <a:rPr sz="1050" b="1" i="0">
                <a:solidFill>
                  <a:srgbClr val="17365D"/>
                </a:solidFill>
                <a:latin typeface="Aptos"/>
              </a:rPr>
              <a:t>(i)  </a:t>
            </a:r>
            <a:r>
              <a:rPr sz="1050" b="0" i="0">
                <a:solidFill>
                  <a:srgbClr val="17365D"/>
                </a:solidFill>
                <a:latin typeface="Aptos"/>
              </a:rPr>
              <a:t>Customers can play board games for two hours if they buy two drinks.</a:t>
            </a:r>
          </a:p>
        </p:txBody>
      </p:sp>
      <p:sp>
        <p:nvSpPr>
          <p:cNvPr id="13" name="Rounded Rectangle 12"/>
          <p:cNvSpPr/>
          <p:nvPr/>
        </p:nvSpPr>
        <p:spPr>
          <a:xfrm>
            <a:off x="1056132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1_1_T"/>
          <p:cNvSpPr txBox="1"/>
          <p:nvPr/>
        </p:nvSpPr>
        <p:spPr>
          <a:xfrm>
            <a:off x="1056132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15" name="Rounded Rectangle 14"/>
          <p:cNvSpPr/>
          <p:nvPr/>
        </p:nvSpPr>
        <p:spPr>
          <a:xfrm>
            <a:off x="1092708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1_1_F"/>
          <p:cNvSpPr txBox="1"/>
          <p:nvPr/>
        </p:nvSpPr>
        <p:spPr>
          <a:xfrm>
            <a:off x="1092708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17" name="Rounded Rectangle 16"/>
          <p:cNvSpPr/>
          <p:nvPr/>
        </p:nvSpPr>
        <p:spPr>
          <a:xfrm>
            <a:off x="1129284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1_1_NG"/>
          <p:cNvSpPr txBox="1"/>
          <p:nvPr/>
        </p:nvSpPr>
        <p:spPr>
          <a:xfrm>
            <a:off x="1129284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19" name="ans1_1"/>
          <p:cNvSpPr txBox="1"/>
          <p:nvPr/>
        </p:nvSpPr>
        <p:spPr>
          <a:xfrm>
            <a:off x="10561320" y="192938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0" name="pct1_1"/>
          <p:cNvSpPr txBox="1"/>
          <p:nvPr/>
        </p:nvSpPr>
        <p:spPr>
          <a:xfrm>
            <a:off x="11521440" y="1965960"/>
            <a:ext cx="640080" cy="237744"/>
          </a:xfrm>
          <a:prstGeom prst="rect">
            <a:avLst/>
          </a:prstGeom>
          <a:noFill/>
        </p:spPr>
        <p:txBody>
          <a:bodyPr wrap="square" anchor="t" lIns="0" rIns="0" tIns="0" bIns="0">
            <a:spAutoFit/>
          </a:bodyPr>
          <a:lstStyle/>
          <a:p>
            <a:pPr algn="r"/>
            <a:r>
              <a:rPr sz="900" b="1" i="0">
                <a:solidFill>
                  <a:srgbClr val="FF0000"/>
                </a:solidFill>
                <a:latin typeface="Aptos"/>
              </a:rPr>
              <a:t>78%</a:t>
            </a:r>
          </a:p>
        </p:txBody>
      </p:sp>
      <p:sp>
        <p:nvSpPr>
          <p:cNvPr id="21" name="q1_stmt2"/>
          <p:cNvSpPr txBox="1"/>
          <p:nvPr/>
        </p:nvSpPr>
        <p:spPr>
          <a:xfrm>
            <a:off x="6492240" y="2679192"/>
            <a:ext cx="3977639" cy="502920"/>
          </a:xfrm>
          <a:prstGeom prst="rect">
            <a:avLst/>
          </a:prstGeom>
          <a:noFill/>
        </p:spPr>
        <p:txBody>
          <a:bodyPr wrap="square" anchor="t" lIns="0" rIns="0" tIns="0" bIns="0">
            <a:spAutoFit/>
          </a:bodyPr>
          <a:lstStyle/>
          <a:p>
            <a:pPr algn="l"/>
            <a:r>
              <a:rPr sz="1050" b="1" i="0">
                <a:solidFill>
                  <a:srgbClr val="17365D"/>
                </a:solidFill>
                <a:latin typeface="Aptos"/>
              </a:rPr>
              <a:t>(j)  </a:t>
            </a:r>
            <a:r>
              <a:rPr sz="1050" b="0" i="0">
                <a:solidFill>
                  <a:srgbClr val="17365D"/>
                </a:solidFill>
                <a:latin typeface="Aptos"/>
              </a:rPr>
              <a:t>You need good English to play games imported from Germany or the US.</a:t>
            </a:r>
          </a:p>
        </p:txBody>
      </p:sp>
      <p:sp>
        <p:nvSpPr>
          <p:cNvPr id="22" name="Rounded Rectangle 21"/>
          <p:cNvSpPr/>
          <p:nvPr/>
        </p:nvSpPr>
        <p:spPr>
          <a:xfrm>
            <a:off x="1056132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1_2_T"/>
          <p:cNvSpPr txBox="1"/>
          <p:nvPr/>
        </p:nvSpPr>
        <p:spPr>
          <a:xfrm>
            <a:off x="1056132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24" name="Rounded Rectangle 23"/>
          <p:cNvSpPr/>
          <p:nvPr/>
        </p:nvSpPr>
        <p:spPr>
          <a:xfrm>
            <a:off x="1092708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1_2_F"/>
          <p:cNvSpPr txBox="1"/>
          <p:nvPr/>
        </p:nvSpPr>
        <p:spPr>
          <a:xfrm>
            <a:off x="1092708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26" name="Rounded Rectangle 25"/>
          <p:cNvSpPr/>
          <p:nvPr/>
        </p:nvSpPr>
        <p:spPr>
          <a:xfrm>
            <a:off x="1129284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1_2_NG"/>
          <p:cNvSpPr txBox="1"/>
          <p:nvPr/>
        </p:nvSpPr>
        <p:spPr>
          <a:xfrm>
            <a:off x="1129284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28" name="ans1_2"/>
          <p:cNvSpPr txBox="1"/>
          <p:nvPr/>
        </p:nvSpPr>
        <p:spPr>
          <a:xfrm>
            <a:off x="10927080" y="2670048"/>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9" name="pct1_2"/>
          <p:cNvSpPr txBox="1"/>
          <p:nvPr/>
        </p:nvSpPr>
        <p:spPr>
          <a:xfrm>
            <a:off x="11521440" y="2706624"/>
            <a:ext cx="640080" cy="237744"/>
          </a:xfrm>
          <a:prstGeom prst="rect">
            <a:avLst/>
          </a:prstGeom>
          <a:noFill/>
        </p:spPr>
        <p:txBody>
          <a:bodyPr wrap="square" anchor="t" lIns="0" rIns="0" tIns="0" bIns="0">
            <a:spAutoFit/>
          </a:bodyPr>
          <a:lstStyle/>
          <a:p>
            <a:pPr algn="r"/>
            <a:r>
              <a:rPr sz="900" b="1" i="0">
                <a:solidFill>
                  <a:srgbClr val="FF0000"/>
                </a:solidFill>
                <a:latin typeface="Aptos"/>
              </a:rPr>
              <a:t>39%</a:t>
            </a:r>
          </a:p>
        </p:txBody>
      </p:sp>
      <p:sp>
        <p:nvSpPr>
          <p:cNvPr id="30" name="q1_stmt3"/>
          <p:cNvSpPr txBox="1"/>
          <p:nvPr/>
        </p:nvSpPr>
        <p:spPr>
          <a:xfrm>
            <a:off x="6492240" y="3419856"/>
            <a:ext cx="3977639" cy="502920"/>
          </a:xfrm>
          <a:prstGeom prst="rect">
            <a:avLst/>
          </a:prstGeom>
          <a:noFill/>
        </p:spPr>
        <p:txBody>
          <a:bodyPr wrap="square" anchor="t" lIns="0" rIns="0" tIns="0" bIns="0">
            <a:spAutoFit/>
          </a:bodyPr>
          <a:lstStyle/>
          <a:p>
            <a:pPr algn="l"/>
            <a:r>
              <a:rPr sz="1050" b="1" i="0">
                <a:solidFill>
                  <a:srgbClr val="17365D"/>
                </a:solidFill>
                <a:latin typeface="Aptos"/>
              </a:rPr>
              <a:t>(k)  </a:t>
            </a:r>
            <a:r>
              <a:rPr sz="1050" b="0" i="0">
                <a:solidFill>
                  <a:srgbClr val="17365D"/>
                </a:solidFill>
                <a:latin typeface="Aptos"/>
              </a:rPr>
              <a:t>Pat never played Monopoly, Uno or Snakes &amp; Ladders as a child.</a:t>
            </a:r>
          </a:p>
        </p:txBody>
      </p:sp>
      <p:sp>
        <p:nvSpPr>
          <p:cNvPr id="31" name="Rounded Rectangle 30"/>
          <p:cNvSpPr/>
          <p:nvPr/>
        </p:nvSpPr>
        <p:spPr>
          <a:xfrm>
            <a:off x="10561320" y="341985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1_3_T"/>
          <p:cNvSpPr txBox="1"/>
          <p:nvPr/>
        </p:nvSpPr>
        <p:spPr>
          <a:xfrm>
            <a:off x="10561320" y="3447288"/>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33" name="Rounded Rectangle 32"/>
          <p:cNvSpPr/>
          <p:nvPr/>
        </p:nvSpPr>
        <p:spPr>
          <a:xfrm>
            <a:off x="10927080" y="341985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1_3_F"/>
          <p:cNvSpPr txBox="1"/>
          <p:nvPr/>
        </p:nvSpPr>
        <p:spPr>
          <a:xfrm>
            <a:off x="10927080" y="3447288"/>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35" name="Rounded Rectangle 34"/>
          <p:cNvSpPr/>
          <p:nvPr/>
        </p:nvSpPr>
        <p:spPr>
          <a:xfrm>
            <a:off x="11292840" y="341985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1_3_NG"/>
          <p:cNvSpPr txBox="1"/>
          <p:nvPr/>
        </p:nvSpPr>
        <p:spPr>
          <a:xfrm>
            <a:off x="11292840" y="3447288"/>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37" name="ans1_3"/>
          <p:cNvSpPr txBox="1"/>
          <p:nvPr/>
        </p:nvSpPr>
        <p:spPr>
          <a:xfrm>
            <a:off x="10927080" y="3410712"/>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38" name="pct1_3"/>
          <p:cNvSpPr txBox="1"/>
          <p:nvPr/>
        </p:nvSpPr>
        <p:spPr>
          <a:xfrm>
            <a:off x="11521440" y="3447288"/>
            <a:ext cx="640080" cy="237744"/>
          </a:xfrm>
          <a:prstGeom prst="rect">
            <a:avLst/>
          </a:prstGeom>
          <a:noFill/>
        </p:spPr>
        <p:txBody>
          <a:bodyPr wrap="square" anchor="t" lIns="0" rIns="0" tIns="0" bIns="0">
            <a:spAutoFit/>
          </a:bodyPr>
          <a:lstStyle/>
          <a:p>
            <a:pPr algn="r"/>
            <a:r>
              <a:rPr sz="900" b="1" i="0">
                <a:solidFill>
                  <a:srgbClr val="FF0000"/>
                </a:solidFill>
                <a:latin typeface="Aptos"/>
              </a:rPr>
              <a:t>82%</a:t>
            </a:r>
          </a:p>
        </p:txBody>
      </p:sp>
      <p:sp>
        <p:nvSpPr>
          <p:cNvPr id="39" name="q1_stmt4"/>
          <p:cNvSpPr txBox="1"/>
          <p:nvPr/>
        </p:nvSpPr>
        <p:spPr>
          <a:xfrm>
            <a:off x="6492240" y="4160520"/>
            <a:ext cx="3977639" cy="502920"/>
          </a:xfrm>
          <a:prstGeom prst="rect">
            <a:avLst/>
          </a:prstGeom>
          <a:noFill/>
        </p:spPr>
        <p:txBody>
          <a:bodyPr wrap="square" anchor="t" lIns="0" rIns="0" tIns="0" bIns="0">
            <a:spAutoFit/>
          </a:bodyPr>
          <a:lstStyle/>
          <a:p>
            <a:pPr algn="l"/>
            <a:r>
              <a:rPr sz="1050" b="1" i="0">
                <a:solidFill>
                  <a:srgbClr val="17365D"/>
                </a:solidFill>
                <a:latin typeface="Aptos"/>
              </a:rPr>
              <a:t>(l)  </a:t>
            </a:r>
            <a:r>
              <a:rPr sz="1050" b="0" i="0">
                <a:solidFill>
                  <a:srgbClr val="17365D"/>
                </a:solidFill>
                <a:latin typeface="Aptos"/>
              </a:rPr>
              <a:t>Pat thinks computer games are not as challenging as some board games.</a:t>
            </a:r>
          </a:p>
        </p:txBody>
      </p:sp>
      <p:sp>
        <p:nvSpPr>
          <p:cNvPr id="40" name="Rounded Rectangle 39"/>
          <p:cNvSpPr/>
          <p:nvPr/>
        </p:nvSpPr>
        <p:spPr>
          <a:xfrm>
            <a:off x="10561320" y="416052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ell1_4_T"/>
          <p:cNvSpPr txBox="1"/>
          <p:nvPr/>
        </p:nvSpPr>
        <p:spPr>
          <a:xfrm>
            <a:off x="10561320" y="4187952"/>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42" name="Rounded Rectangle 41"/>
          <p:cNvSpPr/>
          <p:nvPr/>
        </p:nvSpPr>
        <p:spPr>
          <a:xfrm>
            <a:off x="10927080" y="416052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ell1_4_F"/>
          <p:cNvSpPr txBox="1"/>
          <p:nvPr/>
        </p:nvSpPr>
        <p:spPr>
          <a:xfrm>
            <a:off x="10927080" y="4187952"/>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44" name="Rounded Rectangle 43"/>
          <p:cNvSpPr/>
          <p:nvPr/>
        </p:nvSpPr>
        <p:spPr>
          <a:xfrm>
            <a:off x="11292840" y="416052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ell1_4_NG"/>
          <p:cNvSpPr txBox="1"/>
          <p:nvPr/>
        </p:nvSpPr>
        <p:spPr>
          <a:xfrm>
            <a:off x="11292840" y="4187952"/>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46" name="ans1_4"/>
          <p:cNvSpPr txBox="1"/>
          <p:nvPr/>
        </p:nvSpPr>
        <p:spPr>
          <a:xfrm>
            <a:off x="10561320" y="4151376"/>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47" name="pct1_4"/>
          <p:cNvSpPr txBox="1"/>
          <p:nvPr/>
        </p:nvSpPr>
        <p:spPr>
          <a:xfrm>
            <a:off x="11521440" y="4187952"/>
            <a:ext cx="640080" cy="237744"/>
          </a:xfrm>
          <a:prstGeom prst="rect">
            <a:avLst/>
          </a:prstGeom>
          <a:noFill/>
        </p:spPr>
        <p:txBody>
          <a:bodyPr wrap="square" anchor="t" lIns="0" rIns="0" tIns="0" bIns="0">
            <a:spAutoFit/>
          </a:bodyPr>
          <a:lstStyle/>
          <a:p>
            <a:pPr algn="r"/>
            <a:r>
              <a:rPr sz="900" b="1" i="0">
                <a:solidFill>
                  <a:srgbClr val="FF0000"/>
                </a:solidFill>
                <a:latin typeface="Aptos"/>
              </a:rPr>
              <a:t>72%</a:t>
            </a:r>
          </a:p>
        </p:txBody>
      </p:sp>
      <p:pic>
        <p:nvPicPr>
          <p:cNvPr id="48" name="crop1_1" descr="q1_2012A_Q8.png"/>
          <p:cNvPicPr>
            <a:picLocks noChangeAspect="1"/>
          </p:cNvPicPr>
          <p:nvPr/>
        </p:nvPicPr>
        <p:blipFill>
          <a:blip r:embed="rId2"/>
          <a:stretch>
            <a:fillRect/>
          </a:stretch>
        </p:blipFill>
        <p:spPr>
          <a:xfrm>
            <a:off x="411480" y="1417320"/>
            <a:ext cx="5160096" cy="4892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presetID="10" presetClass="entr" presetSubtype="0" fill="hold"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set>
                          <p:cBhvr>
                            <p:cTn id="6"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par>
                    <p:cTn id="16"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set>
                          <p:cBhvr>
                            <p:cTn id="13"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23" presetID="10" presetClass="entr" presetSubtype="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set>
                          <p:cBhvr>
                            <p:cTn id="20"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par>
                    <p:cTn id="30" presetID="10" presetClass="entr" presetSubtype="0"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6" dur="500"/>
                            <p:tgtEl>
                              <p:spTgt spid="46"/>
                            </p:tgtEl>
                          </p:cBhvr>
                        </p:animEffect>
                        <p:set>
                          <p:cBhvr>
                            <p:cTn id="27" dur="1" fill="hold">
                              <p:stCondLst>
                                <p:cond delay="0"/>
                              </p:stCondLst>
                            </p:cTn>
                            <p:tgtEl>
                              <p:spTgt spid="47"/>
                            </p:tgtEl>
                            <p:attrNameLst>
                              <p:attrName>style.visibility</p:attrName>
                            </p:attrNameLst>
                          </p:cBhvr>
                          <p:to>
                            <p:strVal val="visible"/>
                          </p:to>
                        </p:set>
                        <p:animEffect transition="in" filter="fade">
                          <p:cBhvr>
                            <p:cTn id="29" dur="500"/>
                            <p:tgtEl>
                              <p:spTgt spid="47"/>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84048"/>
            <a:ext cx="12188952" cy="6473952"/>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02920" y="274320"/>
            <a:ext cx="8686800" cy="320040"/>
          </a:xfrm>
          <a:prstGeom prst="rect">
            <a:avLst/>
          </a:prstGeom>
          <a:noFill/>
        </p:spPr>
        <p:txBody>
          <a:bodyPr wrap="square" anchor="t" lIns="0" rIns="0" tIns="0" bIns="0">
            <a:spAutoFit/>
          </a:bodyPr>
          <a:lstStyle/>
          <a:p>
            <a:pPr algn="l"/>
            <a:r>
              <a:rPr sz="1000" b="1" i="0">
                <a:solidFill>
                  <a:srgbClr val="45B7A5"/>
                </a:solidFill>
                <a:latin typeface="Aptos"/>
              </a:rPr>
              <a:t>T / F / NG QUESTION 2 OF 8   •   2012 DSE PAPER 1 PART B1</a:t>
            </a:r>
          </a:p>
        </p:txBody>
      </p:sp>
      <p:sp>
        <p:nvSpPr>
          <p:cNvPr id="5" name="title"/>
          <p:cNvSpPr txBox="1"/>
          <p:nvPr/>
        </p:nvSpPr>
        <p:spPr>
          <a:xfrm>
            <a:off x="502920" y="621792"/>
            <a:ext cx="10515600" cy="640080"/>
          </a:xfrm>
          <a:prstGeom prst="rect">
            <a:avLst/>
          </a:prstGeom>
          <a:noFill/>
        </p:spPr>
        <p:txBody>
          <a:bodyPr wrap="square" anchor="t" lIns="0" rIns="0" tIns="0" bIns="0">
            <a:spAutoFit/>
          </a:bodyPr>
          <a:lstStyle/>
          <a:p>
            <a:pPr algn="l"/>
            <a:r>
              <a:rPr sz="2600" b="1" i="0">
                <a:solidFill>
                  <a:srgbClr val="17365D"/>
                </a:solidFill>
                <a:latin typeface="Aptos"/>
              </a:rPr>
              <a:t>Read the paragraph — then decide: True / False / Not Given</a:t>
            </a:r>
          </a:p>
        </p:txBody>
      </p:sp>
      <p:sp>
        <p:nvSpPr>
          <p:cNvPr id="6" name="Oval 5"/>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46536"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1112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9400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meta2"/>
          <p:cNvSpPr txBox="1"/>
          <p:nvPr/>
        </p:nvSpPr>
        <p:spPr>
          <a:xfrm>
            <a:off x="8503920" y="274320"/>
            <a:ext cx="3108960" cy="320040"/>
          </a:xfrm>
          <a:prstGeom prst="rect">
            <a:avLst/>
          </a:prstGeom>
          <a:noFill/>
        </p:spPr>
        <p:txBody>
          <a:bodyPr wrap="square" anchor="t" lIns="0" rIns="0" tIns="0" bIns="0">
            <a:spAutoFit/>
          </a:bodyPr>
          <a:lstStyle/>
          <a:p>
            <a:pPr algn="r"/>
            <a:r>
              <a:rPr sz="1200" b="1" i="0">
                <a:solidFill>
                  <a:srgbClr val="5B7083"/>
                </a:solidFill>
                <a:latin typeface="Aptos"/>
              </a:rPr>
              <a:t>Q34  •  4 marks  •  Text 2, paragraphs 13-21</a:t>
            </a:r>
          </a:p>
        </p:txBody>
      </p:sp>
      <p:sp>
        <p:nvSpPr>
          <p:cNvPr id="11" name="instr2"/>
          <p:cNvSpPr txBox="1"/>
          <p:nvPr/>
        </p:nvSpPr>
        <p:spPr>
          <a:xfrm>
            <a:off x="6492240" y="1060704"/>
            <a:ext cx="5440680" cy="777240"/>
          </a:xfrm>
          <a:prstGeom prst="rect">
            <a:avLst/>
          </a:prstGeom>
          <a:noFill/>
        </p:spPr>
        <p:txBody>
          <a:bodyPr wrap="square" anchor="t" lIns="0" rIns="0" tIns="0" bIns="0">
            <a:spAutoFit/>
          </a:bodyPr>
          <a:lstStyle/>
          <a:p>
            <a:pPr algn="l"/>
            <a:r>
              <a:rPr sz="1050" b="0" i="0">
                <a:solidFill>
                  <a:srgbClr val="17365D"/>
                </a:solidFill>
                <a:latin typeface="Aptos"/>
              </a:rPr>
              <a:t>Decide whether the following statements are True, False, or the information is Not Given in paragraphs 13-21. Put a tick (✓) in the appropriate column. (4 marks)</a:t>
            </a:r>
          </a:p>
        </p:txBody>
      </p:sp>
      <p:sp>
        <p:nvSpPr>
          <p:cNvPr id="12" name="q2_stmt1"/>
          <p:cNvSpPr txBox="1"/>
          <p:nvPr/>
        </p:nvSpPr>
        <p:spPr>
          <a:xfrm>
            <a:off x="6492240" y="1938528"/>
            <a:ext cx="3977639" cy="320040"/>
          </a:xfrm>
          <a:prstGeom prst="rect">
            <a:avLst/>
          </a:prstGeom>
          <a:noFill/>
        </p:spPr>
        <p:txBody>
          <a:bodyPr wrap="square" anchor="t" lIns="0" rIns="0" tIns="0" bIns="0">
            <a:spAutoFit/>
          </a:bodyPr>
          <a:lstStyle/>
          <a:p>
            <a:pPr algn="l"/>
            <a:r>
              <a:rPr sz="1050" b="1" i="0">
                <a:solidFill>
                  <a:srgbClr val="17365D"/>
                </a:solidFill>
                <a:latin typeface="Aptos"/>
              </a:rPr>
              <a:t>(i)  </a:t>
            </a:r>
            <a:r>
              <a:rPr sz="1050" b="0" i="0">
                <a:solidFill>
                  <a:srgbClr val="17365D"/>
                </a:solidFill>
                <a:latin typeface="Aptos"/>
              </a:rPr>
              <a:t>Only children stitched the quilt.</a:t>
            </a:r>
          </a:p>
        </p:txBody>
      </p:sp>
      <p:sp>
        <p:nvSpPr>
          <p:cNvPr id="13" name="Rounded Rectangle 12"/>
          <p:cNvSpPr/>
          <p:nvPr/>
        </p:nvSpPr>
        <p:spPr>
          <a:xfrm>
            <a:off x="1056132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2_1_T"/>
          <p:cNvSpPr txBox="1"/>
          <p:nvPr/>
        </p:nvSpPr>
        <p:spPr>
          <a:xfrm>
            <a:off x="1056132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15" name="Rounded Rectangle 14"/>
          <p:cNvSpPr/>
          <p:nvPr/>
        </p:nvSpPr>
        <p:spPr>
          <a:xfrm>
            <a:off x="1092708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2_1_F"/>
          <p:cNvSpPr txBox="1"/>
          <p:nvPr/>
        </p:nvSpPr>
        <p:spPr>
          <a:xfrm>
            <a:off x="1092708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17" name="Rounded Rectangle 16"/>
          <p:cNvSpPr/>
          <p:nvPr/>
        </p:nvSpPr>
        <p:spPr>
          <a:xfrm>
            <a:off x="1129284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2_1_NG"/>
          <p:cNvSpPr txBox="1"/>
          <p:nvPr/>
        </p:nvSpPr>
        <p:spPr>
          <a:xfrm>
            <a:off x="1129284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19" name="ans2_1"/>
          <p:cNvSpPr txBox="1"/>
          <p:nvPr/>
        </p:nvSpPr>
        <p:spPr>
          <a:xfrm>
            <a:off x="10927080" y="192938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0" name="pct2_1"/>
          <p:cNvSpPr txBox="1"/>
          <p:nvPr/>
        </p:nvSpPr>
        <p:spPr>
          <a:xfrm>
            <a:off x="11521440" y="1965960"/>
            <a:ext cx="640080" cy="237744"/>
          </a:xfrm>
          <a:prstGeom prst="rect">
            <a:avLst/>
          </a:prstGeom>
          <a:noFill/>
        </p:spPr>
        <p:txBody>
          <a:bodyPr wrap="square" anchor="t" lIns="0" rIns="0" tIns="0" bIns="0">
            <a:spAutoFit/>
          </a:bodyPr>
          <a:lstStyle/>
          <a:p>
            <a:pPr algn="r"/>
            <a:r>
              <a:rPr sz="900" b="1" i="0">
                <a:solidFill>
                  <a:srgbClr val="FF0000"/>
                </a:solidFill>
                <a:latin typeface="Aptos"/>
              </a:rPr>
              <a:t>62%</a:t>
            </a:r>
          </a:p>
        </p:txBody>
      </p:sp>
      <p:sp>
        <p:nvSpPr>
          <p:cNvPr id="21" name="q2_stmt2"/>
          <p:cNvSpPr txBox="1"/>
          <p:nvPr/>
        </p:nvSpPr>
        <p:spPr>
          <a:xfrm>
            <a:off x="6492240" y="2615184"/>
            <a:ext cx="3977639" cy="320040"/>
          </a:xfrm>
          <a:prstGeom prst="rect">
            <a:avLst/>
          </a:prstGeom>
          <a:noFill/>
        </p:spPr>
        <p:txBody>
          <a:bodyPr wrap="square" anchor="t" lIns="0" rIns="0" tIns="0" bIns="0">
            <a:spAutoFit/>
          </a:bodyPr>
          <a:lstStyle/>
          <a:p>
            <a:pPr algn="l"/>
            <a:r>
              <a:rPr sz="1050" b="1" i="0">
                <a:solidFill>
                  <a:srgbClr val="17365D"/>
                </a:solidFill>
                <a:latin typeface="Aptos"/>
              </a:rPr>
              <a:t>(j)  </a:t>
            </a:r>
            <a:r>
              <a:rPr sz="1050" b="0" i="0">
                <a:solidFill>
                  <a:srgbClr val="17365D"/>
                </a:solidFill>
                <a:latin typeface="Aptos"/>
              </a:rPr>
              <a:t>Rachel and Jacob are related.</a:t>
            </a:r>
          </a:p>
        </p:txBody>
      </p:sp>
      <p:sp>
        <p:nvSpPr>
          <p:cNvPr id="22" name="Rounded Rectangle 21"/>
          <p:cNvSpPr/>
          <p:nvPr/>
        </p:nvSpPr>
        <p:spPr>
          <a:xfrm>
            <a:off x="1056132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2_2_T"/>
          <p:cNvSpPr txBox="1"/>
          <p:nvPr/>
        </p:nvSpPr>
        <p:spPr>
          <a:xfrm>
            <a:off x="1056132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24" name="Rounded Rectangle 23"/>
          <p:cNvSpPr/>
          <p:nvPr/>
        </p:nvSpPr>
        <p:spPr>
          <a:xfrm>
            <a:off x="1092708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2_2_F"/>
          <p:cNvSpPr txBox="1"/>
          <p:nvPr/>
        </p:nvSpPr>
        <p:spPr>
          <a:xfrm>
            <a:off x="1092708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26" name="Rounded Rectangle 25"/>
          <p:cNvSpPr/>
          <p:nvPr/>
        </p:nvSpPr>
        <p:spPr>
          <a:xfrm>
            <a:off x="1129284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2_2_NG"/>
          <p:cNvSpPr txBox="1"/>
          <p:nvPr/>
        </p:nvSpPr>
        <p:spPr>
          <a:xfrm>
            <a:off x="1129284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28" name="ans2_2"/>
          <p:cNvSpPr txBox="1"/>
          <p:nvPr/>
        </p:nvSpPr>
        <p:spPr>
          <a:xfrm>
            <a:off x="10561320" y="2606040"/>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9" name="pct2_2"/>
          <p:cNvSpPr txBox="1"/>
          <p:nvPr/>
        </p:nvSpPr>
        <p:spPr>
          <a:xfrm>
            <a:off x="11521440" y="2642616"/>
            <a:ext cx="640080" cy="237744"/>
          </a:xfrm>
          <a:prstGeom prst="rect">
            <a:avLst/>
          </a:prstGeom>
          <a:noFill/>
        </p:spPr>
        <p:txBody>
          <a:bodyPr wrap="square" anchor="t" lIns="0" rIns="0" tIns="0" bIns="0">
            <a:spAutoFit/>
          </a:bodyPr>
          <a:lstStyle/>
          <a:p>
            <a:pPr algn="r"/>
            <a:r>
              <a:rPr sz="900" b="1" i="0">
                <a:solidFill>
                  <a:srgbClr val="FF0000"/>
                </a:solidFill>
                <a:latin typeface="Aptos"/>
              </a:rPr>
              <a:t>68%</a:t>
            </a:r>
          </a:p>
        </p:txBody>
      </p:sp>
      <p:sp>
        <p:nvSpPr>
          <p:cNvPr id="30" name="q2_stmt3"/>
          <p:cNvSpPr txBox="1"/>
          <p:nvPr/>
        </p:nvSpPr>
        <p:spPr>
          <a:xfrm>
            <a:off x="6492240" y="3291840"/>
            <a:ext cx="3977639" cy="320040"/>
          </a:xfrm>
          <a:prstGeom prst="rect">
            <a:avLst/>
          </a:prstGeom>
          <a:noFill/>
        </p:spPr>
        <p:txBody>
          <a:bodyPr wrap="square" anchor="t" lIns="0" rIns="0" tIns="0" bIns="0">
            <a:spAutoFit/>
          </a:bodyPr>
          <a:lstStyle/>
          <a:p>
            <a:pPr algn="l"/>
            <a:r>
              <a:rPr sz="1050" b="1" i="0">
                <a:solidFill>
                  <a:srgbClr val="17365D"/>
                </a:solidFill>
                <a:latin typeface="Aptos"/>
              </a:rPr>
              <a:t>(k)  </a:t>
            </a:r>
            <a:r>
              <a:rPr sz="1050" b="0" i="0">
                <a:solidFill>
                  <a:srgbClr val="17365D"/>
                </a:solidFill>
                <a:latin typeface="Aptos"/>
              </a:rPr>
              <a:t>Jacob and Patrick are classmates.</a:t>
            </a:r>
          </a:p>
        </p:txBody>
      </p:sp>
      <p:sp>
        <p:nvSpPr>
          <p:cNvPr id="31" name="Rounded Rectangle 30"/>
          <p:cNvSpPr/>
          <p:nvPr/>
        </p:nvSpPr>
        <p:spPr>
          <a:xfrm>
            <a:off x="10561320" y="329184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2_3_T"/>
          <p:cNvSpPr txBox="1"/>
          <p:nvPr/>
        </p:nvSpPr>
        <p:spPr>
          <a:xfrm>
            <a:off x="10561320" y="3319272"/>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33" name="Rounded Rectangle 32"/>
          <p:cNvSpPr/>
          <p:nvPr/>
        </p:nvSpPr>
        <p:spPr>
          <a:xfrm>
            <a:off x="10927080" y="329184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2_3_F"/>
          <p:cNvSpPr txBox="1"/>
          <p:nvPr/>
        </p:nvSpPr>
        <p:spPr>
          <a:xfrm>
            <a:off x="10927080" y="3319272"/>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35" name="Rounded Rectangle 34"/>
          <p:cNvSpPr/>
          <p:nvPr/>
        </p:nvSpPr>
        <p:spPr>
          <a:xfrm>
            <a:off x="11292840" y="329184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2_3_NG"/>
          <p:cNvSpPr txBox="1"/>
          <p:nvPr/>
        </p:nvSpPr>
        <p:spPr>
          <a:xfrm>
            <a:off x="11292840" y="3319272"/>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37" name="ans2_3"/>
          <p:cNvSpPr txBox="1"/>
          <p:nvPr/>
        </p:nvSpPr>
        <p:spPr>
          <a:xfrm>
            <a:off x="11292840" y="3282696"/>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38" name="pct2_3"/>
          <p:cNvSpPr txBox="1"/>
          <p:nvPr/>
        </p:nvSpPr>
        <p:spPr>
          <a:xfrm>
            <a:off x="11521440" y="3319272"/>
            <a:ext cx="640080" cy="237744"/>
          </a:xfrm>
          <a:prstGeom prst="rect">
            <a:avLst/>
          </a:prstGeom>
          <a:noFill/>
        </p:spPr>
        <p:txBody>
          <a:bodyPr wrap="square" anchor="t" lIns="0" rIns="0" tIns="0" bIns="0">
            <a:spAutoFit/>
          </a:bodyPr>
          <a:lstStyle/>
          <a:p>
            <a:pPr algn="r"/>
            <a:r>
              <a:rPr sz="900" b="1" i="0">
                <a:solidFill>
                  <a:srgbClr val="FF0000"/>
                </a:solidFill>
                <a:latin typeface="Aptos"/>
              </a:rPr>
              <a:t>64%</a:t>
            </a:r>
          </a:p>
        </p:txBody>
      </p:sp>
      <p:sp>
        <p:nvSpPr>
          <p:cNvPr id="39" name="q2_stmt4"/>
          <p:cNvSpPr txBox="1"/>
          <p:nvPr/>
        </p:nvSpPr>
        <p:spPr>
          <a:xfrm>
            <a:off x="6492240" y="3968496"/>
            <a:ext cx="3977639" cy="502920"/>
          </a:xfrm>
          <a:prstGeom prst="rect">
            <a:avLst/>
          </a:prstGeom>
          <a:noFill/>
        </p:spPr>
        <p:txBody>
          <a:bodyPr wrap="square" anchor="t" lIns="0" rIns="0" tIns="0" bIns="0">
            <a:spAutoFit/>
          </a:bodyPr>
          <a:lstStyle/>
          <a:p>
            <a:pPr algn="l"/>
            <a:r>
              <a:rPr sz="1050" b="1" i="0">
                <a:solidFill>
                  <a:srgbClr val="17365D"/>
                </a:solidFill>
                <a:latin typeface="Aptos"/>
              </a:rPr>
              <a:t>(l)  </a:t>
            </a:r>
            <a:r>
              <a:rPr sz="1050" b="0" i="0">
                <a:solidFill>
                  <a:srgbClr val="17365D"/>
                </a:solidFill>
                <a:latin typeface="Aptos"/>
              </a:rPr>
              <a:t>Each participant could express their personality through the pledge patches.</a:t>
            </a:r>
          </a:p>
        </p:txBody>
      </p:sp>
      <p:sp>
        <p:nvSpPr>
          <p:cNvPr id="40" name="Rounded Rectangle 39"/>
          <p:cNvSpPr/>
          <p:nvPr/>
        </p:nvSpPr>
        <p:spPr>
          <a:xfrm>
            <a:off x="10561320" y="396849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ell2_4_T"/>
          <p:cNvSpPr txBox="1"/>
          <p:nvPr/>
        </p:nvSpPr>
        <p:spPr>
          <a:xfrm>
            <a:off x="10561320" y="3995928"/>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42" name="Rounded Rectangle 41"/>
          <p:cNvSpPr/>
          <p:nvPr/>
        </p:nvSpPr>
        <p:spPr>
          <a:xfrm>
            <a:off x="10927080" y="396849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ell2_4_F"/>
          <p:cNvSpPr txBox="1"/>
          <p:nvPr/>
        </p:nvSpPr>
        <p:spPr>
          <a:xfrm>
            <a:off x="10927080" y="3995928"/>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44" name="Rounded Rectangle 43"/>
          <p:cNvSpPr/>
          <p:nvPr/>
        </p:nvSpPr>
        <p:spPr>
          <a:xfrm>
            <a:off x="11292840" y="396849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ell2_4_NG"/>
          <p:cNvSpPr txBox="1"/>
          <p:nvPr/>
        </p:nvSpPr>
        <p:spPr>
          <a:xfrm>
            <a:off x="11292840" y="3995928"/>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46" name="ans2_4"/>
          <p:cNvSpPr txBox="1"/>
          <p:nvPr/>
        </p:nvSpPr>
        <p:spPr>
          <a:xfrm>
            <a:off x="10561320" y="3959352"/>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47" name="pct2_4"/>
          <p:cNvSpPr txBox="1"/>
          <p:nvPr/>
        </p:nvSpPr>
        <p:spPr>
          <a:xfrm>
            <a:off x="11521440" y="3995928"/>
            <a:ext cx="640080" cy="237744"/>
          </a:xfrm>
          <a:prstGeom prst="rect">
            <a:avLst/>
          </a:prstGeom>
          <a:noFill/>
        </p:spPr>
        <p:txBody>
          <a:bodyPr wrap="square" anchor="t" lIns="0" rIns="0" tIns="0" bIns="0">
            <a:spAutoFit/>
          </a:bodyPr>
          <a:lstStyle/>
          <a:p>
            <a:pPr algn="r"/>
            <a:r>
              <a:rPr sz="900" b="1" i="0">
                <a:solidFill>
                  <a:srgbClr val="FF0000"/>
                </a:solidFill>
                <a:latin typeface="Aptos"/>
              </a:rPr>
              <a:t>59%</a:t>
            </a:r>
          </a:p>
        </p:txBody>
      </p:sp>
      <p:pic>
        <p:nvPicPr>
          <p:cNvPr id="48" name="crop2_1" descr="q2a_2012B1_Q34.png"/>
          <p:cNvPicPr>
            <a:picLocks noChangeAspect="1"/>
          </p:cNvPicPr>
          <p:nvPr/>
        </p:nvPicPr>
        <p:blipFill>
          <a:blip r:embed="rId2"/>
          <a:stretch>
            <a:fillRect/>
          </a:stretch>
        </p:blipFill>
        <p:spPr>
          <a:xfrm>
            <a:off x="411480" y="1417320"/>
            <a:ext cx="2921744" cy="2030968"/>
          </a:xfrm>
          <a:prstGeom prst="rect">
            <a:avLst/>
          </a:prstGeom>
        </p:spPr>
      </p:pic>
      <p:sp>
        <p:nvSpPr>
          <p:cNvPr id="49" name="cap2_1"/>
          <p:cNvSpPr txBox="1"/>
          <p:nvPr/>
        </p:nvSpPr>
        <p:spPr>
          <a:xfrm>
            <a:off x="411480" y="5641486"/>
            <a:ext cx="2921744" cy="228600"/>
          </a:xfrm>
          <a:prstGeom prst="rect">
            <a:avLst/>
          </a:prstGeom>
          <a:noFill/>
        </p:spPr>
        <p:txBody>
          <a:bodyPr wrap="square" anchor="t" lIns="0" rIns="0" tIns="0" bIns="0">
            <a:spAutoFit/>
          </a:bodyPr>
          <a:lstStyle/>
          <a:p>
            <a:pPr algn="l"/>
            <a:r>
              <a:rPr sz="950" b="1" i="0">
                <a:solidFill>
                  <a:srgbClr val="5B7083"/>
                </a:solidFill>
                <a:latin typeface="Aptos"/>
              </a:rPr>
              <a:t>Text 2, ¶13–15</a:t>
            </a:r>
          </a:p>
        </p:txBody>
      </p:sp>
      <p:pic>
        <p:nvPicPr>
          <p:cNvPr id="50" name="crop2_2" descr="q2b_2012B1_Q34.png"/>
          <p:cNvPicPr>
            <a:picLocks noChangeAspect="1"/>
          </p:cNvPicPr>
          <p:nvPr/>
        </p:nvPicPr>
        <p:blipFill>
          <a:blip r:embed="rId3"/>
          <a:stretch>
            <a:fillRect/>
          </a:stretch>
        </p:blipFill>
        <p:spPr>
          <a:xfrm>
            <a:off x="3461240" y="1417320"/>
            <a:ext cx="2939559" cy="4151014"/>
          </a:xfrm>
          <a:prstGeom prst="rect">
            <a:avLst/>
          </a:prstGeom>
        </p:spPr>
      </p:pic>
      <p:sp>
        <p:nvSpPr>
          <p:cNvPr id="51" name="cap2_2"/>
          <p:cNvSpPr txBox="1"/>
          <p:nvPr/>
        </p:nvSpPr>
        <p:spPr>
          <a:xfrm>
            <a:off x="3461240" y="5641486"/>
            <a:ext cx="2939559" cy="228600"/>
          </a:xfrm>
          <a:prstGeom prst="rect">
            <a:avLst/>
          </a:prstGeom>
          <a:noFill/>
        </p:spPr>
        <p:txBody>
          <a:bodyPr wrap="square" anchor="t" lIns="0" rIns="0" tIns="0" bIns="0">
            <a:spAutoFit/>
          </a:bodyPr>
          <a:lstStyle/>
          <a:p>
            <a:pPr algn="l"/>
            <a:r>
              <a:rPr sz="950" b="1" i="0">
                <a:solidFill>
                  <a:srgbClr val="5B7083"/>
                </a:solidFill>
                <a:latin typeface="Aptos"/>
              </a:rPr>
              <a:t>Text 2, ¶16–21</a:t>
            </a:r>
          </a:p>
        </p:txBody>
      </p:sp>
    </p:spTree>
  </p:cSld>
  <p:clrMapOvr>
    <a:masterClrMapping/>
  </p:clrMapOvr>
  <p:timing>
    <p:tnLst>
      <p:par>
        <p:cTn id="1" dur="indefinite" restart="never" nodeType="tmRoot">
          <p:childTnLst>
            <p:seq concurrent="1" nextAc="seek">
              <p:cTn id="2" dur="indefinite" nodeType="mainSeq">
                <p:childTnLst>
                  <p:par>
                    <p:cTn id="9" presetID="10" presetClass="entr" presetSubtype="0" fill="hold"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set>
                          <p:cBhvr>
                            <p:cTn id="6"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par>
                    <p:cTn id="16"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set>
                          <p:cBhvr>
                            <p:cTn id="13"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23" presetID="10" presetClass="entr" presetSubtype="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set>
                          <p:cBhvr>
                            <p:cTn id="20"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par>
                    <p:cTn id="30" presetID="10" presetClass="entr" presetSubtype="0"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6" dur="500"/>
                            <p:tgtEl>
                              <p:spTgt spid="46"/>
                            </p:tgtEl>
                          </p:cBhvr>
                        </p:animEffect>
                        <p:set>
                          <p:cBhvr>
                            <p:cTn id="27" dur="1" fill="hold">
                              <p:stCondLst>
                                <p:cond delay="0"/>
                              </p:stCondLst>
                            </p:cTn>
                            <p:tgtEl>
                              <p:spTgt spid="47"/>
                            </p:tgtEl>
                            <p:attrNameLst>
                              <p:attrName>style.visibility</p:attrName>
                            </p:attrNameLst>
                          </p:cBhvr>
                          <p:to>
                            <p:strVal val="visible"/>
                          </p:to>
                        </p:set>
                        <p:animEffect transition="in" filter="fade">
                          <p:cBhvr>
                            <p:cTn id="29" dur="500"/>
                            <p:tgtEl>
                              <p:spTgt spid="47"/>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84048"/>
            <a:ext cx="12188952" cy="6473952"/>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02920" y="274320"/>
            <a:ext cx="8686800" cy="320040"/>
          </a:xfrm>
          <a:prstGeom prst="rect">
            <a:avLst/>
          </a:prstGeom>
          <a:noFill/>
        </p:spPr>
        <p:txBody>
          <a:bodyPr wrap="square" anchor="t" lIns="0" rIns="0" tIns="0" bIns="0">
            <a:spAutoFit/>
          </a:bodyPr>
          <a:lstStyle/>
          <a:p>
            <a:pPr algn="l"/>
            <a:r>
              <a:rPr sz="1000" b="1" i="0">
                <a:solidFill>
                  <a:srgbClr val="45B7A5"/>
                </a:solidFill>
                <a:latin typeface="Aptos"/>
              </a:rPr>
              <a:t>T / F / NG QUESTION 3 OF 8   •   2012 DSE PAPER 1 PART B2</a:t>
            </a:r>
          </a:p>
        </p:txBody>
      </p:sp>
      <p:sp>
        <p:nvSpPr>
          <p:cNvPr id="5" name="title"/>
          <p:cNvSpPr txBox="1"/>
          <p:nvPr/>
        </p:nvSpPr>
        <p:spPr>
          <a:xfrm>
            <a:off x="502920" y="621792"/>
            <a:ext cx="10515600" cy="640080"/>
          </a:xfrm>
          <a:prstGeom prst="rect">
            <a:avLst/>
          </a:prstGeom>
          <a:noFill/>
        </p:spPr>
        <p:txBody>
          <a:bodyPr wrap="square" anchor="t" lIns="0" rIns="0" tIns="0" bIns="0">
            <a:spAutoFit/>
          </a:bodyPr>
          <a:lstStyle/>
          <a:p>
            <a:pPr algn="l"/>
            <a:r>
              <a:rPr sz="2600" b="1" i="0">
                <a:solidFill>
                  <a:srgbClr val="17365D"/>
                </a:solidFill>
                <a:latin typeface="Aptos"/>
              </a:rPr>
              <a:t>Read the paragraph — then decide: True / False / Not Given</a:t>
            </a:r>
          </a:p>
        </p:txBody>
      </p:sp>
      <p:sp>
        <p:nvSpPr>
          <p:cNvPr id="6" name="Oval 5"/>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46536"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1112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9400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meta3"/>
          <p:cNvSpPr txBox="1"/>
          <p:nvPr/>
        </p:nvSpPr>
        <p:spPr>
          <a:xfrm>
            <a:off x="8503920" y="274320"/>
            <a:ext cx="3108960" cy="320040"/>
          </a:xfrm>
          <a:prstGeom prst="rect">
            <a:avLst/>
          </a:prstGeom>
          <a:noFill/>
        </p:spPr>
        <p:txBody>
          <a:bodyPr wrap="square" anchor="t" lIns="0" rIns="0" tIns="0" bIns="0">
            <a:spAutoFit/>
          </a:bodyPr>
          <a:lstStyle/>
          <a:p>
            <a:pPr algn="r"/>
            <a:r>
              <a:rPr sz="1200" b="1" i="0">
                <a:solidFill>
                  <a:srgbClr val="5B7083"/>
                </a:solidFill>
                <a:latin typeface="Aptos"/>
              </a:rPr>
              <a:t>Q51  •  3 marks  •  Text 4, paragraphs 2-3</a:t>
            </a:r>
          </a:p>
        </p:txBody>
      </p:sp>
      <p:sp>
        <p:nvSpPr>
          <p:cNvPr id="11" name="instr3"/>
          <p:cNvSpPr txBox="1"/>
          <p:nvPr/>
        </p:nvSpPr>
        <p:spPr>
          <a:xfrm>
            <a:off x="6492240" y="1060704"/>
            <a:ext cx="5440680" cy="777240"/>
          </a:xfrm>
          <a:prstGeom prst="rect">
            <a:avLst/>
          </a:prstGeom>
          <a:noFill/>
        </p:spPr>
        <p:txBody>
          <a:bodyPr wrap="square" anchor="t" lIns="0" rIns="0" tIns="0" bIns="0">
            <a:spAutoFit/>
          </a:bodyPr>
          <a:lstStyle/>
          <a:p>
            <a:pPr algn="l"/>
            <a:r>
              <a:rPr sz="1050" b="0" i="0">
                <a:solidFill>
                  <a:srgbClr val="17365D"/>
                </a:solidFill>
                <a:latin typeface="Aptos"/>
              </a:rPr>
              <a:t>Decide whether the following statements are True, False, or the information is Not Given in paragraphs 2-3. Put a tick (✓) in the appropriate column. (3 marks)</a:t>
            </a:r>
          </a:p>
        </p:txBody>
      </p:sp>
      <p:sp>
        <p:nvSpPr>
          <p:cNvPr id="12" name="q3_stmt1"/>
          <p:cNvSpPr txBox="1"/>
          <p:nvPr/>
        </p:nvSpPr>
        <p:spPr>
          <a:xfrm>
            <a:off x="6492240" y="1938528"/>
            <a:ext cx="3977639" cy="320040"/>
          </a:xfrm>
          <a:prstGeom prst="rect">
            <a:avLst/>
          </a:prstGeom>
          <a:noFill/>
        </p:spPr>
        <p:txBody>
          <a:bodyPr wrap="square" anchor="t" lIns="0" rIns="0" tIns="0" bIns="0">
            <a:spAutoFit/>
          </a:bodyPr>
          <a:lstStyle/>
          <a:p>
            <a:pPr algn="l"/>
            <a:r>
              <a:rPr sz="1050" b="1" i="0">
                <a:solidFill>
                  <a:srgbClr val="17365D"/>
                </a:solidFill>
                <a:latin typeface="Aptos"/>
              </a:rPr>
              <a:t>(i)  </a:t>
            </a:r>
            <a:r>
              <a:rPr sz="1050" b="0" i="0">
                <a:solidFill>
                  <a:srgbClr val="17365D"/>
                </a:solidFill>
                <a:latin typeface="Aptos"/>
              </a:rPr>
              <a:t>Chua was born in the Philippines.</a:t>
            </a:r>
          </a:p>
        </p:txBody>
      </p:sp>
      <p:sp>
        <p:nvSpPr>
          <p:cNvPr id="13" name="Rounded Rectangle 12"/>
          <p:cNvSpPr/>
          <p:nvPr/>
        </p:nvSpPr>
        <p:spPr>
          <a:xfrm>
            <a:off x="1056132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3_1_T"/>
          <p:cNvSpPr txBox="1"/>
          <p:nvPr/>
        </p:nvSpPr>
        <p:spPr>
          <a:xfrm>
            <a:off x="1056132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15" name="Rounded Rectangle 14"/>
          <p:cNvSpPr/>
          <p:nvPr/>
        </p:nvSpPr>
        <p:spPr>
          <a:xfrm>
            <a:off x="1092708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3_1_F"/>
          <p:cNvSpPr txBox="1"/>
          <p:nvPr/>
        </p:nvSpPr>
        <p:spPr>
          <a:xfrm>
            <a:off x="1092708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17" name="Rounded Rectangle 16"/>
          <p:cNvSpPr/>
          <p:nvPr/>
        </p:nvSpPr>
        <p:spPr>
          <a:xfrm>
            <a:off x="1129284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3_1_NG"/>
          <p:cNvSpPr txBox="1"/>
          <p:nvPr/>
        </p:nvSpPr>
        <p:spPr>
          <a:xfrm>
            <a:off x="1129284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19" name="ans3_1"/>
          <p:cNvSpPr txBox="1"/>
          <p:nvPr/>
        </p:nvSpPr>
        <p:spPr>
          <a:xfrm>
            <a:off x="11292840" y="192938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0" name="pct3_1"/>
          <p:cNvSpPr txBox="1"/>
          <p:nvPr/>
        </p:nvSpPr>
        <p:spPr>
          <a:xfrm>
            <a:off x="11521440" y="1965960"/>
            <a:ext cx="640080" cy="237744"/>
          </a:xfrm>
          <a:prstGeom prst="rect">
            <a:avLst/>
          </a:prstGeom>
          <a:noFill/>
        </p:spPr>
        <p:txBody>
          <a:bodyPr wrap="square" anchor="t" lIns="0" rIns="0" tIns="0" bIns="0">
            <a:spAutoFit/>
          </a:bodyPr>
          <a:lstStyle/>
          <a:p>
            <a:pPr algn="r"/>
            <a:r>
              <a:rPr sz="900" b="1" i="0">
                <a:solidFill>
                  <a:srgbClr val="FF0000"/>
                </a:solidFill>
                <a:latin typeface="Aptos"/>
              </a:rPr>
              <a:t>82%</a:t>
            </a:r>
          </a:p>
        </p:txBody>
      </p:sp>
      <p:sp>
        <p:nvSpPr>
          <p:cNvPr id="21" name="q3_stmt2"/>
          <p:cNvSpPr txBox="1"/>
          <p:nvPr/>
        </p:nvSpPr>
        <p:spPr>
          <a:xfrm>
            <a:off x="6492240" y="2615184"/>
            <a:ext cx="3977639" cy="320040"/>
          </a:xfrm>
          <a:prstGeom prst="rect">
            <a:avLst/>
          </a:prstGeom>
          <a:noFill/>
        </p:spPr>
        <p:txBody>
          <a:bodyPr wrap="square" anchor="t" lIns="0" rIns="0" tIns="0" bIns="0">
            <a:spAutoFit/>
          </a:bodyPr>
          <a:lstStyle/>
          <a:p>
            <a:pPr algn="l"/>
            <a:r>
              <a:rPr sz="1050" b="1" i="0">
                <a:solidFill>
                  <a:srgbClr val="17365D"/>
                </a:solidFill>
                <a:latin typeface="Aptos"/>
              </a:rPr>
              <a:t>(j)  </a:t>
            </a:r>
            <a:r>
              <a:rPr sz="1050" b="0" i="0">
                <a:solidFill>
                  <a:srgbClr val="17365D"/>
                </a:solidFill>
                <a:latin typeface="Aptos"/>
              </a:rPr>
              <a:t>Chua forces her children to do certain activities.</a:t>
            </a:r>
          </a:p>
        </p:txBody>
      </p:sp>
      <p:sp>
        <p:nvSpPr>
          <p:cNvPr id="22" name="Rounded Rectangle 21"/>
          <p:cNvSpPr/>
          <p:nvPr/>
        </p:nvSpPr>
        <p:spPr>
          <a:xfrm>
            <a:off x="1056132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3_2_T"/>
          <p:cNvSpPr txBox="1"/>
          <p:nvPr/>
        </p:nvSpPr>
        <p:spPr>
          <a:xfrm>
            <a:off x="1056132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24" name="Rounded Rectangle 23"/>
          <p:cNvSpPr/>
          <p:nvPr/>
        </p:nvSpPr>
        <p:spPr>
          <a:xfrm>
            <a:off x="1092708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3_2_F"/>
          <p:cNvSpPr txBox="1"/>
          <p:nvPr/>
        </p:nvSpPr>
        <p:spPr>
          <a:xfrm>
            <a:off x="1092708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26" name="Rounded Rectangle 25"/>
          <p:cNvSpPr/>
          <p:nvPr/>
        </p:nvSpPr>
        <p:spPr>
          <a:xfrm>
            <a:off x="1129284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3_2_NG"/>
          <p:cNvSpPr txBox="1"/>
          <p:nvPr/>
        </p:nvSpPr>
        <p:spPr>
          <a:xfrm>
            <a:off x="1129284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28" name="ans3_2"/>
          <p:cNvSpPr txBox="1"/>
          <p:nvPr/>
        </p:nvSpPr>
        <p:spPr>
          <a:xfrm>
            <a:off x="10561320" y="2606040"/>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9" name="pct3_2"/>
          <p:cNvSpPr txBox="1"/>
          <p:nvPr/>
        </p:nvSpPr>
        <p:spPr>
          <a:xfrm>
            <a:off x="11521440" y="2642616"/>
            <a:ext cx="640080" cy="237744"/>
          </a:xfrm>
          <a:prstGeom prst="rect">
            <a:avLst/>
          </a:prstGeom>
          <a:noFill/>
        </p:spPr>
        <p:txBody>
          <a:bodyPr wrap="square" anchor="t" lIns="0" rIns="0" tIns="0" bIns="0">
            <a:spAutoFit/>
          </a:bodyPr>
          <a:lstStyle/>
          <a:p>
            <a:pPr algn="r"/>
            <a:r>
              <a:rPr sz="900" b="1" i="0">
                <a:solidFill>
                  <a:srgbClr val="FF0000"/>
                </a:solidFill>
                <a:latin typeface="Aptos"/>
              </a:rPr>
              <a:t>79%</a:t>
            </a:r>
          </a:p>
        </p:txBody>
      </p:sp>
      <p:sp>
        <p:nvSpPr>
          <p:cNvPr id="30" name="q3_stmt3"/>
          <p:cNvSpPr txBox="1"/>
          <p:nvPr/>
        </p:nvSpPr>
        <p:spPr>
          <a:xfrm>
            <a:off x="6492240" y="3291840"/>
            <a:ext cx="3977639" cy="502920"/>
          </a:xfrm>
          <a:prstGeom prst="rect">
            <a:avLst/>
          </a:prstGeom>
          <a:noFill/>
        </p:spPr>
        <p:txBody>
          <a:bodyPr wrap="square" anchor="t" lIns="0" rIns="0" tIns="0" bIns="0">
            <a:spAutoFit/>
          </a:bodyPr>
          <a:lstStyle/>
          <a:p>
            <a:pPr algn="l"/>
            <a:r>
              <a:rPr sz="1050" b="1" i="0">
                <a:solidFill>
                  <a:srgbClr val="17365D"/>
                </a:solidFill>
                <a:latin typeface="Aptos"/>
              </a:rPr>
              <a:t>(k)  </a:t>
            </a:r>
            <a:r>
              <a:rPr sz="1050" b="0" i="0">
                <a:solidFill>
                  <a:srgbClr val="17365D"/>
                </a:solidFill>
                <a:latin typeface="Aptos"/>
              </a:rPr>
              <a:t>Guo is unhappy her sons are learning painting and weiqi.</a:t>
            </a:r>
          </a:p>
        </p:txBody>
      </p:sp>
      <p:sp>
        <p:nvSpPr>
          <p:cNvPr id="31" name="Rounded Rectangle 30"/>
          <p:cNvSpPr/>
          <p:nvPr/>
        </p:nvSpPr>
        <p:spPr>
          <a:xfrm>
            <a:off x="10561320" y="329184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3_3_T"/>
          <p:cNvSpPr txBox="1"/>
          <p:nvPr/>
        </p:nvSpPr>
        <p:spPr>
          <a:xfrm>
            <a:off x="10561320" y="3319272"/>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33" name="Rounded Rectangle 32"/>
          <p:cNvSpPr/>
          <p:nvPr/>
        </p:nvSpPr>
        <p:spPr>
          <a:xfrm>
            <a:off x="10927080" y="329184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3_3_F"/>
          <p:cNvSpPr txBox="1"/>
          <p:nvPr/>
        </p:nvSpPr>
        <p:spPr>
          <a:xfrm>
            <a:off x="10927080" y="3319272"/>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35" name="Rounded Rectangle 34"/>
          <p:cNvSpPr/>
          <p:nvPr/>
        </p:nvSpPr>
        <p:spPr>
          <a:xfrm>
            <a:off x="11292840" y="329184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3_3_NG"/>
          <p:cNvSpPr txBox="1"/>
          <p:nvPr/>
        </p:nvSpPr>
        <p:spPr>
          <a:xfrm>
            <a:off x="11292840" y="3319272"/>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37" name="ans3_3"/>
          <p:cNvSpPr txBox="1"/>
          <p:nvPr/>
        </p:nvSpPr>
        <p:spPr>
          <a:xfrm>
            <a:off x="10927080" y="3282696"/>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38" name="pct3_3"/>
          <p:cNvSpPr txBox="1"/>
          <p:nvPr/>
        </p:nvSpPr>
        <p:spPr>
          <a:xfrm>
            <a:off x="11521440" y="3319272"/>
            <a:ext cx="640080" cy="237744"/>
          </a:xfrm>
          <a:prstGeom prst="rect">
            <a:avLst/>
          </a:prstGeom>
          <a:noFill/>
        </p:spPr>
        <p:txBody>
          <a:bodyPr wrap="square" anchor="t" lIns="0" rIns="0" tIns="0" bIns="0">
            <a:spAutoFit/>
          </a:bodyPr>
          <a:lstStyle/>
          <a:p>
            <a:pPr algn="r"/>
            <a:r>
              <a:rPr sz="900" b="1" i="0">
                <a:solidFill>
                  <a:srgbClr val="FF0000"/>
                </a:solidFill>
                <a:latin typeface="Aptos"/>
              </a:rPr>
              <a:t>84%</a:t>
            </a:r>
          </a:p>
        </p:txBody>
      </p:sp>
      <p:pic>
        <p:nvPicPr>
          <p:cNvPr id="39" name="crop3_1" descr="q3_2012B2_Q51.png"/>
          <p:cNvPicPr>
            <a:picLocks noChangeAspect="1"/>
          </p:cNvPicPr>
          <p:nvPr/>
        </p:nvPicPr>
        <p:blipFill>
          <a:blip r:embed="rId2"/>
          <a:stretch>
            <a:fillRect/>
          </a:stretch>
        </p:blipFill>
        <p:spPr>
          <a:xfrm>
            <a:off x="411480" y="1417320"/>
            <a:ext cx="5989320" cy="219410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presetID="10" presetClass="entr" presetSubtype="0" fill="hold"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set>
                          <p:cBhvr>
                            <p:cTn id="6"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par>
                    <p:cTn id="16"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set>
                          <p:cBhvr>
                            <p:cTn id="13"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23" presetID="10" presetClass="entr" presetSubtype="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set>
                          <p:cBhvr>
                            <p:cTn id="20"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84048"/>
            <a:ext cx="12188952" cy="6473952"/>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02920" y="274320"/>
            <a:ext cx="8686800" cy="320040"/>
          </a:xfrm>
          <a:prstGeom prst="rect">
            <a:avLst/>
          </a:prstGeom>
          <a:noFill/>
        </p:spPr>
        <p:txBody>
          <a:bodyPr wrap="square" anchor="t" lIns="0" rIns="0" tIns="0" bIns="0">
            <a:spAutoFit/>
          </a:bodyPr>
          <a:lstStyle/>
          <a:p>
            <a:pPr algn="l"/>
            <a:r>
              <a:rPr sz="1000" b="1" i="0">
                <a:solidFill>
                  <a:srgbClr val="45B7A5"/>
                </a:solidFill>
                <a:latin typeface="Aptos"/>
              </a:rPr>
              <a:t>T / F / NG QUESTION 4 OF 8   •   2013 DSE PAPER 1 PART A</a:t>
            </a:r>
          </a:p>
        </p:txBody>
      </p:sp>
      <p:sp>
        <p:nvSpPr>
          <p:cNvPr id="5" name="title"/>
          <p:cNvSpPr txBox="1"/>
          <p:nvPr/>
        </p:nvSpPr>
        <p:spPr>
          <a:xfrm>
            <a:off x="502920" y="621792"/>
            <a:ext cx="10515600" cy="640080"/>
          </a:xfrm>
          <a:prstGeom prst="rect">
            <a:avLst/>
          </a:prstGeom>
          <a:noFill/>
        </p:spPr>
        <p:txBody>
          <a:bodyPr wrap="square" anchor="t" lIns="0" rIns="0" tIns="0" bIns="0">
            <a:spAutoFit/>
          </a:bodyPr>
          <a:lstStyle/>
          <a:p>
            <a:pPr algn="l"/>
            <a:r>
              <a:rPr sz="2600" b="1" i="0">
                <a:solidFill>
                  <a:srgbClr val="17365D"/>
                </a:solidFill>
                <a:latin typeface="Aptos"/>
              </a:rPr>
              <a:t>Read the paragraph — then decide: True / False / Not Given</a:t>
            </a:r>
          </a:p>
        </p:txBody>
      </p:sp>
      <p:sp>
        <p:nvSpPr>
          <p:cNvPr id="6" name="Oval 5"/>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46536"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1112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9400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meta4"/>
          <p:cNvSpPr txBox="1"/>
          <p:nvPr/>
        </p:nvSpPr>
        <p:spPr>
          <a:xfrm>
            <a:off x="8503920" y="274320"/>
            <a:ext cx="3108960" cy="320040"/>
          </a:xfrm>
          <a:prstGeom prst="rect">
            <a:avLst/>
          </a:prstGeom>
          <a:noFill/>
        </p:spPr>
        <p:txBody>
          <a:bodyPr wrap="square" anchor="t" lIns="0" rIns="0" tIns="0" bIns="0">
            <a:spAutoFit/>
          </a:bodyPr>
          <a:lstStyle/>
          <a:p>
            <a:pPr algn="r"/>
            <a:r>
              <a:rPr sz="1200" b="1" i="0">
                <a:solidFill>
                  <a:srgbClr val="5B7083"/>
                </a:solidFill>
                <a:latin typeface="Aptos"/>
              </a:rPr>
              <a:t>Q6  •  3 marks  •  Text 1, paragraphs 2-3</a:t>
            </a:r>
          </a:p>
        </p:txBody>
      </p:sp>
      <p:sp>
        <p:nvSpPr>
          <p:cNvPr id="11" name="instr4"/>
          <p:cNvSpPr txBox="1"/>
          <p:nvPr/>
        </p:nvSpPr>
        <p:spPr>
          <a:xfrm>
            <a:off x="6492240" y="1060704"/>
            <a:ext cx="5440680" cy="777240"/>
          </a:xfrm>
          <a:prstGeom prst="rect">
            <a:avLst/>
          </a:prstGeom>
          <a:noFill/>
        </p:spPr>
        <p:txBody>
          <a:bodyPr wrap="square" anchor="t" lIns="0" rIns="0" tIns="0" bIns="0">
            <a:spAutoFit/>
          </a:bodyPr>
          <a:lstStyle/>
          <a:p>
            <a:pPr algn="l"/>
            <a:r>
              <a:rPr sz="1050" b="0" i="0">
                <a:solidFill>
                  <a:srgbClr val="17365D"/>
                </a:solidFill>
                <a:latin typeface="Aptos"/>
              </a:rPr>
              <a:t>Read paragraphs 2-3 and decide whether the following statements are True, False, or the information is Not Given. Blacken ONE circle only for each statement.</a:t>
            </a:r>
          </a:p>
        </p:txBody>
      </p:sp>
      <p:sp>
        <p:nvSpPr>
          <p:cNvPr id="12" name="q4_stmt1"/>
          <p:cNvSpPr txBox="1"/>
          <p:nvPr/>
        </p:nvSpPr>
        <p:spPr>
          <a:xfrm>
            <a:off x="6492240" y="1938528"/>
            <a:ext cx="3977639" cy="502920"/>
          </a:xfrm>
          <a:prstGeom prst="rect">
            <a:avLst/>
          </a:prstGeom>
          <a:noFill/>
        </p:spPr>
        <p:txBody>
          <a:bodyPr wrap="square" anchor="t" lIns="0" rIns="0" tIns="0" bIns="0">
            <a:spAutoFit/>
          </a:bodyPr>
          <a:lstStyle/>
          <a:p>
            <a:pPr algn="l"/>
            <a:r>
              <a:rPr sz="1050" b="1" i="0">
                <a:solidFill>
                  <a:srgbClr val="17365D"/>
                </a:solidFill>
                <a:latin typeface="Aptos"/>
              </a:rPr>
              <a:t>(i)  </a:t>
            </a:r>
            <a:r>
              <a:rPr sz="1050" b="0" i="0">
                <a:solidFill>
                  <a:srgbClr val="17365D"/>
                </a:solidFill>
                <a:latin typeface="Aptos"/>
              </a:rPr>
              <a:t>The three women in the persimmon orchard are the same age.</a:t>
            </a:r>
          </a:p>
        </p:txBody>
      </p:sp>
      <p:sp>
        <p:nvSpPr>
          <p:cNvPr id="13" name="Rounded Rectangle 12"/>
          <p:cNvSpPr/>
          <p:nvPr/>
        </p:nvSpPr>
        <p:spPr>
          <a:xfrm>
            <a:off x="1056132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4_1_T"/>
          <p:cNvSpPr txBox="1"/>
          <p:nvPr/>
        </p:nvSpPr>
        <p:spPr>
          <a:xfrm>
            <a:off x="1056132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15" name="Rounded Rectangle 14"/>
          <p:cNvSpPr/>
          <p:nvPr/>
        </p:nvSpPr>
        <p:spPr>
          <a:xfrm>
            <a:off x="1092708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4_1_F"/>
          <p:cNvSpPr txBox="1"/>
          <p:nvPr/>
        </p:nvSpPr>
        <p:spPr>
          <a:xfrm>
            <a:off x="1092708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17" name="Rounded Rectangle 16"/>
          <p:cNvSpPr/>
          <p:nvPr/>
        </p:nvSpPr>
        <p:spPr>
          <a:xfrm>
            <a:off x="1129284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4_1_NG"/>
          <p:cNvSpPr txBox="1"/>
          <p:nvPr/>
        </p:nvSpPr>
        <p:spPr>
          <a:xfrm>
            <a:off x="1129284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19" name="ans4_1"/>
          <p:cNvSpPr txBox="1"/>
          <p:nvPr/>
        </p:nvSpPr>
        <p:spPr>
          <a:xfrm>
            <a:off x="11292840" y="192938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0" name="pct4_1"/>
          <p:cNvSpPr txBox="1"/>
          <p:nvPr/>
        </p:nvSpPr>
        <p:spPr>
          <a:xfrm>
            <a:off x="11521440" y="1965960"/>
            <a:ext cx="640080" cy="237744"/>
          </a:xfrm>
          <a:prstGeom prst="rect">
            <a:avLst/>
          </a:prstGeom>
          <a:noFill/>
        </p:spPr>
        <p:txBody>
          <a:bodyPr wrap="square" anchor="t" lIns="0" rIns="0" tIns="0" bIns="0">
            <a:spAutoFit/>
          </a:bodyPr>
          <a:lstStyle/>
          <a:p>
            <a:pPr algn="r"/>
            <a:r>
              <a:rPr sz="900" b="1" i="0">
                <a:solidFill>
                  <a:srgbClr val="FF0000"/>
                </a:solidFill>
                <a:latin typeface="Aptos"/>
              </a:rPr>
              <a:t>72%</a:t>
            </a:r>
          </a:p>
        </p:txBody>
      </p:sp>
      <p:sp>
        <p:nvSpPr>
          <p:cNvPr id="21" name="q4_stmt2"/>
          <p:cNvSpPr txBox="1"/>
          <p:nvPr/>
        </p:nvSpPr>
        <p:spPr>
          <a:xfrm>
            <a:off x="6492240" y="2679192"/>
            <a:ext cx="3977639" cy="320040"/>
          </a:xfrm>
          <a:prstGeom prst="rect">
            <a:avLst/>
          </a:prstGeom>
          <a:noFill/>
        </p:spPr>
        <p:txBody>
          <a:bodyPr wrap="square" anchor="t" lIns="0" rIns="0" tIns="0" bIns="0">
            <a:spAutoFit/>
          </a:bodyPr>
          <a:lstStyle/>
          <a:p>
            <a:pPr algn="l"/>
            <a:r>
              <a:rPr sz="1050" b="1" i="0">
                <a:solidFill>
                  <a:srgbClr val="17365D"/>
                </a:solidFill>
                <a:latin typeface="Aptos"/>
              </a:rPr>
              <a:t>(j)  </a:t>
            </a:r>
            <a:r>
              <a:rPr sz="1050" b="0" i="0">
                <a:solidFill>
                  <a:srgbClr val="17365D"/>
                </a:solidFill>
                <a:latin typeface="Aptos"/>
              </a:rPr>
              <a:t>The burial complex remains a mystery.</a:t>
            </a:r>
          </a:p>
        </p:txBody>
      </p:sp>
      <p:sp>
        <p:nvSpPr>
          <p:cNvPr id="22" name="Rounded Rectangle 21"/>
          <p:cNvSpPr/>
          <p:nvPr/>
        </p:nvSpPr>
        <p:spPr>
          <a:xfrm>
            <a:off x="1056132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4_2_T"/>
          <p:cNvSpPr txBox="1"/>
          <p:nvPr/>
        </p:nvSpPr>
        <p:spPr>
          <a:xfrm>
            <a:off x="1056132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24" name="Rounded Rectangle 23"/>
          <p:cNvSpPr/>
          <p:nvPr/>
        </p:nvSpPr>
        <p:spPr>
          <a:xfrm>
            <a:off x="1092708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4_2_F"/>
          <p:cNvSpPr txBox="1"/>
          <p:nvPr/>
        </p:nvSpPr>
        <p:spPr>
          <a:xfrm>
            <a:off x="1092708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26" name="Rounded Rectangle 25"/>
          <p:cNvSpPr/>
          <p:nvPr/>
        </p:nvSpPr>
        <p:spPr>
          <a:xfrm>
            <a:off x="1129284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4_2_NG"/>
          <p:cNvSpPr txBox="1"/>
          <p:nvPr/>
        </p:nvSpPr>
        <p:spPr>
          <a:xfrm>
            <a:off x="1129284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28" name="ans4_2"/>
          <p:cNvSpPr txBox="1"/>
          <p:nvPr/>
        </p:nvSpPr>
        <p:spPr>
          <a:xfrm>
            <a:off x="10561320" y="2670048"/>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9" name="pct4_2"/>
          <p:cNvSpPr txBox="1"/>
          <p:nvPr/>
        </p:nvSpPr>
        <p:spPr>
          <a:xfrm>
            <a:off x="11521440" y="2706624"/>
            <a:ext cx="640080" cy="237744"/>
          </a:xfrm>
          <a:prstGeom prst="rect">
            <a:avLst/>
          </a:prstGeom>
          <a:noFill/>
        </p:spPr>
        <p:txBody>
          <a:bodyPr wrap="square" anchor="t" lIns="0" rIns="0" tIns="0" bIns="0">
            <a:spAutoFit/>
          </a:bodyPr>
          <a:lstStyle/>
          <a:p>
            <a:pPr algn="r"/>
            <a:r>
              <a:rPr sz="900" b="1" i="0">
                <a:solidFill>
                  <a:srgbClr val="FF0000"/>
                </a:solidFill>
                <a:latin typeface="Aptos"/>
              </a:rPr>
              <a:t>61%</a:t>
            </a:r>
          </a:p>
        </p:txBody>
      </p:sp>
      <p:sp>
        <p:nvSpPr>
          <p:cNvPr id="30" name="q4_stmt3"/>
          <p:cNvSpPr txBox="1"/>
          <p:nvPr/>
        </p:nvSpPr>
        <p:spPr>
          <a:xfrm>
            <a:off x="6492240" y="3355848"/>
            <a:ext cx="3977639" cy="502920"/>
          </a:xfrm>
          <a:prstGeom prst="rect">
            <a:avLst/>
          </a:prstGeom>
          <a:noFill/>
        </p:spPr>
        <p:txBody>
          <a:bodyPr wrap="square" anchor="t" lIns="0" rIns="0" tIns="0" bIns="0">
            <a:spAutoFit/>
          </a:bodyPr>
          <a:lstStyle/>
          <a:p>
            <a:pPr algn="l"/>
            <a:r>
              <a:rPr sz="1050" b="1" i="0">
                <a:solidFill>
                  <a:srgbClr val="17365D"/>
                </a:solidFill>
                <a:latin typeface="Aptos"/>
              </a:rPr>
              <a:t>(k)  </a:t>
            </a:r>
            <a:r>
              <a:rPr sz="1050" b="0" i="0">
                <a:solidFill>
                  <a:srgbClr val="17365D"/>
                </a:solidFill>
                <a:latin typeface="Aptos"/>
              </a:rPr>
              <a:t>It usually takes a few hours to piece together a complete terra-cotta warrior.</a:t>
            </a:r>
          </a:p>
        </p:txBody>
      </p:sp>
      <p:sp>
        <p:nvSpPr>
          <p:cNvPr id="31" name="Rounded Rectangle 30"/>
          <p:cNvSpPr/>
          <p:nvPr/>
        </p:nvSpPr>
        <p:spPr>
          <a:xfrm>
            <a:off x="10561320" y="335584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4_3_T"/>
          <p:cNvSpPr txBox="1"/>
          <p:nvPr/>
        </p:nvSpPr>
        <p:spPr>
          <a:xfrm>
            <a:off x="10561320" y="3383279"/>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33" name="Rounded Rectangle 32"/>
          <p:cNvSpPr/>
          <p:nvPr/>
        </p:nvSpPr>
        <p:spPr>
          <a:xfrm>
            <a:off x="10927080" y="335584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4_3_F"/>
          <p:cNvSpPr txBox="1"/>
          <p:nvPr/>
        </p:nvSpPr>
        <p:spPr>
          <a:xfrm>
            <a:off x="10927080" y="3383279"/>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35" name="Rounded Rectangle 34"/>
          <p:cNvSpPr/>
          <p:nvPr/>
        </p:nvSpPr>
        <p:spPr>
          <a:xfrm>
            <a:off x="11292840" y="335584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4_3_NG"/>
          <p:cNvSpPr txBox="1"/>
          <p:nvPr/>
        </p:nvSpPr>
        <p:spPr>
          <a:xfrm>
            <a:off x="11292840" y="3383279"/>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37" name="ans4_3"/>
          <p:cNvSpPr txBox="1"/>
          <p:nvPr/>
        </p:nvSpPr>
        <p:spPr>
          <a:xfrm>
            <a:off x="10927080" y="334670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38" name="pct4_3"/>
          <p:cNvSpPr txBox="1"/>
          <p:nvPr/>
        </p:nvSpPr>
        <p:spPr>
          <a:xfrm>
            <a:off x="11521440" y="3383279"/>
            <a:ext cx="640080" cy="237744"/>
          </a:xfrm>
          <a:prstGeom prst="rect">
            <a:avLst/>
          </a:prstGeom>
          <a:noFill/>
        </p:spPr>
        <p:txBody>
          <a:bodyPr wrap="square" anchor="t" lIns="0" rIns="0" tIns="0" bIns="0">
            <a:spAutoFit/>
          </a:bodyPr>
          <a:lstStyle/>
          <a:p>
            <a:pPr algn="r"/>
            <a:r>
              <a:rPr sz="900" b="1" i="0">
                <a:solidFill>
                  <a:srgbClr val="FF0000"/>
                </a:solidFill>
                <a:latin typeface="Aptos"/>
              </a:rPr>
              <a:t>67%</a:t>
            </a:r>
          </a:p>
        </p:txBody>
      </p:sp>
      <p:sp>
        <p:nvSpPr>
          <p:cNvPr id="39" name="deln4"/>
          <p:cNvSpPr txBox="1"/>
          <p:nvPr/>
        </p:nvSpPr>
        <p:spPr>
          <a:xfrm>
            <a:off x="6492240" y="6035040"/>
            <a:ext cx="5440680" cy="548640"/>
          </a:xfrm>
          <a:prstGeom prst="rect">
            <a:avLst/>
          </a:prstGeom>
          <a:noFill/>
        </p:spPr>
        <p:txBody>
          <a:bodyPr wrap="square" anchor="t" lIns="0" rIns="0" tIns="0" bIns="0">
            <a:spAutoFit/>
          </a:bodyPr>
          <a:lstStyle/>
          <a:p>
            <a:pPr algn="l"/>
            <a:r>
              <a:rPr sz="950" b="0" i="0">
                <a:solidFill>
                  <a:srgbClr val="5B7083"/>
                </a:solidFill>
                <a:latin typeface="Aptos"/>
              </a:rPr>
              <a:t>(iv) Yang Rongrong has been piecing together terra-cotta warriors for 39 years.  </a:t>
            </a:r>
            <a:r>
              <a:rPr sz="950" b="1" i="0">
                <a:solidFill>
                  <a:srgbClr val="5B7083"/>
                </a:solidFill>
                <a:latin typeface="Aptos"/>
              </a:rPr>
              <a:t>This statement was deleted by HKEAA — the question is marked out of 3 here.</a:t>
            </a:r>
          </a:p>
        </p:txBody>
      </p:sp>
      <p:pic>
        <p:nvPicPr>
          <p:cNvPr id="40" name="crop4_1" descr="q4_2013A_Q6.png"/>
          <p:cNvPicPr>
            <a:picLocks noChangeAspect="1"/>
          </p:cNvPicPr>
          <p:nvPr/>
        </p:nvPicPr>
        <p:blipFill>
          <a:blip r:embed="rId2"/>
          <a:stretch>
            <a:fillRect/>
          </a:stretch>
        </p:blipFill>
        <p:spPr>
          <a:xfrm>
            <a:off x="411480" y="1417320"/>
            <a:ext cx="4171337" cy="48920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presetID="10" presetClass="entr" presetSubtype="0" fill="hold"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set>
                          <p:cBhvr>
                            <p:cTn id="6"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par>
                    <p:cTn id="16"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set>
                          <p:cBhvr>
                            <p:cTn id="13"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23" presetID="10" presetClass="entr" presetSubtype="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set>
                          <p:cBhvr>
                            <p:cTn id="20"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84048"/>
            <a:ext cx="12188952" cy="6473952"/>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02920" y="274320"/>
            <a:ext cx="8686800" cy="320040"/>
          </a:xfrm>
          <a:prstGeom prst="rect">
            <a:avLst/>
          </a:prstGeom>
          <a:noFill/>
        </p:spPr>
        <p:txBody>
          <a:bodyPr wrap="square" anchor="t" lIns="0" rIns="0" tIns="0" bIns="0">
            <a:spAutoFit/>
          </a:bodyPr>
          <a:lstStyle/>
          <a:p>
            <a:pPr algn="l"/>
            <a:r>
              <a:rPr sz="1000" b="1" i="0">
                <a:solidFill>
                  <a:srgbClr val="45B7A5"/>
                </a:solidFill>
                <a:latin typeface="Aptos"/>
              </a:rPr>
              <a:t>T / F / NG QUESTION 5 OF 8   •   2013 DSE PAPER 1 PART A</a:t>
            </a:r>
          </a:p>
        </p:txBody>
      </p:sp>
      <p:sp>
        <p:nvSpPr>
          <p:cNvPr id="5" name="title"/>
          <p:cNvSpPr txBox="1"/>
          <p:nvPr/>
        </p:nvSpPr>
        <p:spPr>
          <a:xfrm>
            <a:off x="502920" y="621792"/>
            <a:ext cx="10515600" cy="640080"/>
          </a:xfrm>
          <a:prstGeom prst="rect">
            <a:avLst/>
          </a:prstGeom>
          <a:noFill/>
        </p:spPr>
        <p:txBody>
          <a:bodyPr wrap="square" anchor="t" lIns="0" rIns="0" tIns="0" bIns="0">
            <a:spAutoFit/>
          </a:bodyPr>
          <a:lstStyle/>
          <a:p>
            <a:pPr algn="l"/>
            <a:r>
              <a:rPr sz="2600" b="1" i="0">
                <a:solidFill>
                  <a:srgbClr val="17365D"/>
                </a:solidFill>
                <a:latin typeface="Aptos"/>
              </a:rPr>
              <a:t>Read the paragraph — then decide: True / False / Not Given</a:t>
            </a:r>
          </a:p>
        </p:txBody>
      </p:sp>
      <p:sp>
        <p:nvSpPr>
          <p:cNvPr id="6" name="Oval 5"/>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46536"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1112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9400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meta5"/>
          <p:cNvSpPr txBox="1"/>
          <p:nvPr/>
        </p:nvSpPr>
        <p:spPr>
          <a:xfrm>
            <a:off x="8503920" y="274320"/>
            <a:ext cx="3108960" cy="320040"/>
          </a:xfrm>
          <a:prstGeom prst="rect">
            <a:avLst/>
          </a:prstGeom>
          <a:noFill/>
        </p:spPr>
        <p:txBody>
          <a:bodyPr wrap="square" anchor="t" lIns="0" rIns="0" tIns="0" bIns="0">
            <a:spAutoFit/>
          </a:bodyPr>
          <a:lstStyle/>
          <a:p>
            <a:pPr algn="r"/>
            <a:r>
              <a:rPr sz="1200" b="1" i="0">
                <a:solidFill>
                  <a:srgbClr val="5B7083"/>
                </a:solidFill>
                <a:latin typeface="Aptos"/>
              </a:rPr>
              <a:t>Q21  •  3 marks  •  Text 1, paragraph 11</a:t>
            </a:r>
          </a:p>
        </p:txBody>
      </p:sp>
      <p:sp>
        <p:nvSpPr>
          <p:cNvPr id="11" name="instr5"/>
          <p:cNvSpPr txBox="1"/>
          <p:nvPr/>
        </p:nvSpPr>
        <p:spPr>
          <a:xfrm>
            <a:off x="6492240" y="1060704"/>
            <a:ext cx="5440680" cy="777240"/>
          </a:xfrm>
          <a:prstGeom prst="rect">
            <a:avLst/>
          </a:prstGeom>
          <a:noFill/>
        </p:spPr>
        <p:txBody>
          <a:bodyPr wrap="square" anchor="t" lIns="0" rIns="0" tIns="0" bIns="0">
            <a:spAutoFit/>
          </a:bodyPr>
          <a:lstStyle/>
          <a:p>
            <a:pPr algn="l"/>
            <a:r>
              <a:rPr sz="1050" b="0" i="0">
                <a:solidFill>
                  <a:srgbClr val="17365D"/>
                </a:solidFill>
                <a:latin typeface="Aptos"/>
              </a:rPr>
              <a:t>Read paragraph 11 and decide whether the following statements are True, False, or the information is Not Given. Blacken ONE circle only for each statement. (3 marks)</a:t>
            </a:r>
          </a:p>
        </p:txBody>
      </p:sp>
      <p:sp>
        <p:nvSpPr>
          <p:cNvPr id="12" name="q5_stmt1"/>
          <p:cNvSpPr txBox="1"/>
          <p:nvPr/>
        </p:nvSpPr>
        <p:spPr>
          <a:xfrm>
            <a:off x="6492240" y="1938528"/>
            <a:ext cx="3977639" cy="320040"/>
          </a:xfrm>
          <a:prstGeom prst="rect">
            <a:avLst/>
          </a:prstGeom>
          <a:noFill/>
        </p:spPr>
        <p:txBody>
          <a:bodyPr wrap="square" anchor="t" lIns="0" rIns="0" tIns="0" bIns="0">
            <a:spAutoFit/>
          </a:bodyPr>
          <a:lstStyle/>
          <a:p>
            <a:pPr algn="l"/>
            <a:r>
              <a:rPr sz="1050" b="1" i="0">
                <a:solidFill>
                  <a:srgbClr val="17365D"/>
                </a:solidFill>
                <a:latin typeface="Aptos"/>
              </a:rPr>
              <a:t>(i)  </a:t>
            </a:r>
            <a:r>
              <a:rPr sz="1050" b="0" i="0">
                <a:solidFill>
                  <a:srgbClr val="17365D"/>
                </a:solidFill>
                <a:latin typeface="Aptos"/>
              </a:rPr>
              <a:t>Only a small portion of the tomb has been excavated.</a:t>
            </a:r>
          </a:p>
        </p:txBody>
      </p:sp>
      <p:sp>
        <p:nvSpPr>
          <p:cNvPr id="13" name="Rounded Rectangle 12"/>
          <p:cNvSpPr/>
          <p:nvPr/>
        </p:nvSpPr>
        <p:spPr>
          <a:xfrm>
            <a:off x="1056132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5_1_T"/>
          <p:cNvSpPr txBox="1"/>
          <p:nvPr/>
        </p:nvSpPr>
        <p:spPr>
          <a:xfrm>
            <a:off x="1056132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15" name="Rounded Rectangle 14"/>
          <p:cNvSpPr/>
          <p:nvPr/>
        </p:nvSpPr>
        <p:spPr>
          <a:xfrm>
            <a:off x="1092708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5_1_F"/>
          <p:cNvSpPr txBox="1"/>
          <p:nvPr/>
        </p:nvSpPr>
        <p:spPr>
          <a:xfrm>
            <a:off x="1092708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17" name="Rounded Rectangle 16"/>
          <p:cNvSpPr/>
          <p:nvPr/>
        </p:nvSpPr>
        <p:spPr>
          <a:xfrm>
            <a:off x="1129284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5_1_NG"/>
          <p:cNvSpPr txBox="1"/>
          <p:nvPr/>
        </p:nvSpPr>
        <p:spPr>
          <a:xfrm>
            <a:off x="1129284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19" name="ans5_1"/>
          <p:cNvSpPr txBox="1"/>
          <p:nvPr/>
        </p:nvSpPr>
        <p:spPr>
          <a:xfrm>
            <a:off x="10561320" y="192938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0" name="pct5_1"/>
          <p:cNvSpPr txBox="1"/>
          <p:nvPr/>
        </p:nvSpPr>
        <p:spPr>
          <a:xfrm>
            <a:off x="11521440" y="1965960"/>
            <a:ext cx="640080" cy="237744"/>
          </a:xfrm>
          <a:prstGeom prst="rect">
            <a:avLst/>
          </a:prstGeom>
          <a:noFill/>
        </p:spPr>
        <p:txBody>
          <a:bodyPr wrap="square" anchor="t" lIns="0" rIns="0" tIns="0" bIns="0">
            <a:spAutoFit/>
          </a:bodyPr>
          <a:lstStyle/>
          <a:p>
            <a:pPr algn="r"/>
            <a:r>
              <a:rPr sz="900" b="1" i="0">
                <a:solidFill>
                  <a:srgbClr val="FF0000"/>
                </a:solidFill>
                <a:latin typeface="Aptos"/>
              </a:rPr>
              <a:t>64%</a:t>
            </a:r>
          </a:p>
        </p:txBody>
      </p:sp>
      <p:sp>
        <p:nvSpPr>
          <p:cNvPr id="21" name="q5_stmt2"/>
          <p:cNvSpPr txBox="1"/>
          <p:nvPr/>
        </p:nvSpPr>
        <p:spPr>
          <a:xfrm>
            <a:off x="6492240" y="2615184"/>
            <a:ext cx="3977639" cy="502920"/>
          </a:xfrm>
          <a:prstGeom prst="rect">
            <a:avLst/>
          </a:prstGeom>
          <a:noFill/>
        </p:spPr>
        <p:txBody>
          <a:bodyPr wrap="square" anchor="t" lIns="0" rIns="0" tIns="0" bIns="0">
            <a:spAutoFit/>
          </a:bodyPr>
          <a:lstStyle/>
          <a:p>
            <a:pPr algn="l"/>
            <a:r>
              <a:rPr sz="1050" b="1" i="0">
                <a:solidFill>
                  <a:srgbClr val="17365D"/>
                </a:solidFill>
                <a:latin typeface="Aptos"/>
              </a:rPr>
              <a:t>(j)  </a:t>
            </a:r>
            <a:r>
              <a:rPr sz="1050" b="0" i="0">
                <a:solidFill>
                  <a:srgbClr val="17365D"/>
                </a:solidFill>
                <a:latin typeface="Aptos"/>
              </a:rPr>
              <a:t>The speed of discovering new artifacts is slowing down.</a:t>
            </a:r>
          </a:p>
        </p:txBody>
      </p:sp>
      <p:sp>
        <p:nvSpPr>
          <p:cNvPr id="22" name="Rounded Rectangle 21"/>
          <p:cNvSpPr/>
          <p:nvPr/>
        </p:nvSpPr>
        <p:spPr>
          <a:xfrm>
            <a:off x="1056132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5_2_T"/>
          <p:cNvSpPr txBox="1"/>
          <p:nvPr/>
        </p:nvSpPr>
        <p:spPr>
          <a:xfrm>
            <a:off x="1056132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24" name="Rounded Rectangle 23"/>
          <p:cNvSpPr/>
          <p:nvPr/>
        </p:nvSpPr>
        <p:spPr>
          <a:xfrm>
            <a:off x="1092708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5_2_F"/>
          <p:cNvSpPr txBox="1"/>
          <p:nvPr/>
        </p:nvSpPr>
        <p:spPr>
          <a:xfrm>
            <a:off x="1092708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26" name="Rounded Rectangle 25"/>
          <p:cNvSpPr/>
          <p:nvPr/>
        </p:nvSpPr>
        <p:spPr>
          <a:xfrm>
            <a:off x="1129284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5_2_NG"/>
          <p:cNvSpPr txBox="1"/>
          <p:nvPr/>
        </p:nvSpPr>
        <p:spPr>
          <a:xfrm>
            <a:off x="1129284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28" name="ans5_2"/>
          <p:cNvSpPr txBox="1"/>
          <p:nvPr/>
        </p:nvSpPr>
        <p:spPr>
          <a:xfrm>
            <a:off x="10927080" y="2606040"/>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9" name="pct5_2"/>
          <p:cNvSpPr txBox="1"/>
          <p:nvPr/>
        </p:nvSpPr>
        <p:spPr>
          <a:xfrm>
            <a:off x="11521440" y="2642616"/>
            <a:ext cx="640080" cy="237744"/>
          </a:xfrm>
          <a:prstGeom prst="rect">
            <a:avLst/>
          </a:prstGeom>
          <a:noFill/>
        </p:spPr>
        <p:txBody>
          <a:bodyPr wrap="square" anchor="t" lIns="0" rIns="0" tIns="0" bIns="0">
            <a:spAutoFit/>
          </a:bodyPr>
          <a:lstStyle/>
          <a:p>
            <a:pPr algn="r"/>
            <a:r>
              <a:rPr sz="900" b="1" i="0">
                <a:solidFill>
                  <a:srgbClr val="FF0000"/>
                </a:solidFill>
                <a:latin typeface="Aptos"/>
              </a:rPr>
              <a:t>68%</a:t>
            </a:r>
          </a:p>
        </p:txBody>
      </p:sp>
      <p:sp>
        <p:nvSpPr>
          <p:cNvPr id="30" name="q5_stmt3"/>
          <p:cNvSpPr txBox="1"/>
          <p:nvPr/>
        </p:nvSpPr>
        <p:spPr>
          <a:xfrm>
            <a:off x="6492240" y="3355848"/>
            <a:ext cx="3977639" cy="502920"/>
          </a:xfrm>
          <a:prstGeom prst="rect">
            <a:avLst/>
          </a:prstGeom>
          <a:noFill/>
        </p:spPr>
        <p:txBody>
          <a:bodyPr wrap="square" anchor="t" lIns="0" rIns="0" tIns="0" bIns="0">
            <a:spAutoFit/>
          </a:bodyPr>
          <a:lstStyle/>
          <a:p>
            <a:pPr algn="l"/>
            <a:r>
              <a:rPr sz="1050" b="1" i="0">
                <a:solidFill>
                  <a:srgbClr val="17365D"/>
                </a:solidFill>
                <a:latin typeface="Aptos"/>
              </a:rPr>
              <a:t>(k)  </a:t>
            </a:r>
            <a:r>
              <a:rPr sz="1050" b="0" i="0">
                <a:solidFill>
                  <a:srgbClr val="17365D"/>
                </a:solidFill>
                <a:latin typeface="Aptos"/>
              </a:rPr>
              <a:t>In 2011, the museum completed the excavation of the central burial mound.</a:t>
            </a:r>
          </a:p>
        </p:txBody>
      </p:sp>
      <p:sp>
        <p:nvSpPr>
          <p:cNvPr id="31" name="Rounded Rectangle 30"/>
          <p:cNvSpPr/>
          <p:nvPr/>
        </p:nvSpPr>
        <p:spPr>
          <a:xfrm>
            <a:off x="10561320" y="335584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5_3_T"/>
          <p:cNvSpPr txBox="1"/>
          <p:nvPr/>
        </p:nvSpPr>
        <p:spPr>
          <a:xfrm>
            <a:off x="10561320" y="3383280"/>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33" name="Rounded Rectangle 32"/>
          <p:cNvSpPr/>
          <p:nvPr/>
        </p:nvSpPr>
        <p:spPr>
          <a:xfrm>
            <a:off x="10927080" y="335584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5_3_F"/>
          <p:cNvSpPr txBox="1"/>
          <p:nvPr/>
        </p:nvSpPr>
        <p:spPr>
          <a:xfrm>
            <a:off x="10927080" y="3383280"/>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35" name="Rounded Rectangle 34"/>
          <p:cNvSpPr/>
          <p:nvPr/>
        </p:nvSpPr>
        <p:spPr>
          <a:xfrm>
            <a:off x="11292840" y="335584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5_3_NG"/>
          <p:cNvSpPr txBox="1"/>
          <p:nvPr/>
        </p:nvSpPr>
        <p:spPr>
          <a:xfrm>
            <a:off x="11292840" y="3383280"/>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37" name="ans5_3"/>
          <p:cNvSpPr txBox="1"/>
          <p:nvPr/>
        </p:nvSpPr>
        <p:spPr>
          <a:xfrm>
            <a:off x="10927080" y="334670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38" name="pct5_3"/>
          <p:cNvSpPr txBox="1"/>
          <p:nvPr/>
        </p:nvSpPr>
        <p:spPr>
          <a:xfrm>
            <a:off x="11521440" y="3383280"/>
            <a:ext cx="640080" cy="237744"/>
          </a:xfrm>
          <a:prstGeom prst="rect">
            <a:avLst/>
          </a:prstGeom>
          <a:noFill/>
        </p:spPr>
        <p:txBody>
          <a:bodyPr wrap="square" anchor="t" lIns="0" rIns="0" tIns="0" bIns="0">
            <a:spAutoFit/>
          </a:bodyPr>
          <a:lstStyle/>
          <a:p>
            <a:pPr algn="r"/>
            <a:r>
              <a:rPr sz="900" b="1" i="0">
                <a:solidFill>
                  <a:srgbClr val="FF0000"/>
                </a:solidFill>
                <a:latin typeface="Aptos"/>
              </a:rPr>
              <a:t>40%</a:t>
            </a:r>
          </a:p>
        </p:txBody>
      </p:sp>
      <p:pic>
        <p:nvPicPr>
          <p:cNvPr id="39" name="crop5_1" descr="q5_2013A_Q21.png"/>
          <p:cNvPicPr>
            <a:picLocks noChangeAspect="1"/>
          </p:cNvPicPr>
          <p:nvPr/>
        </p:nvPicPr>
        <p:blipFill>
          <a:blip r:embed="rId2"/>
          <a:stretch>
            <a:fillRect/>
          </a:stretch>
        </p:blipFill>
        <p:spPr>
          <a:xfrm>
            <a:off x="411480" y="1417320"/>
            <a:ext cx="5989320" cy="290743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presetID="10" presetClass="entr" presetSubtype="0" fill="hold"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set>
                          <p:cBhvr>
                            <p:cTn id="6"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par>
                    <p:cTn id="16"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set>
                          <p:cBhvr>
                            <p:cTn id="13"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23" presetID="10" presetClass="entr" presetSubtype="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set>
                          <p:cBhvr>
                            <p:cTn id="20"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84048"/>
            <a:ext cx="12188952" cy="6473952"/>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02920" y="274320"/>
            <a:ext cx="8686800" cy="320040"/>
          </a:xfrm>
          <a:prstGeom prst="rect">
            <a:avLst/>
          </a:prstGeom>
          <a:noFill/>
        </p:spPr>
        <p:txBody>
          <a:bodyPr wrap="square" anchor="t" lIns="0" rIns="0" tIns="0" bIns="0">
            <a:spAutoFit/>
          </a:bodyPr>
          <a:lstStyle/>
          <a:p>
            <a:pPr algn="l"/>
            <a:r>
              <a:rPr sz="1000" b="1" i="0">
                <a:solidFill>
                  <a:srgbClr val="45B7A5"/>
                </a:solidFill>
                <a:latin typeface="Aptos"/>
              </a:rPr>
              <a:t>T / F / NG QUESTION 6 OF 8   •   2013 DSE PAPER 1 PART B1</a:t>
            </a:r>
          </a:p>
        </p:txBody>
      </p:sp>
      <p:sp>
        <p:nvSpPr>
          <p:cNvPr id="5" name="title"/>
          <p:cNvSpPr txBox="1"/>
          <p:nvPr/>
        </p:nvSpPr>
        <p:spPr>
          <a:xfrm>
            <a:off x="502920" y="621792"/>
            <a:ext cx="10515600" cy="640080"/>
          </a:xfrm>
          <a:prstGeom prst="rect">
            <a:avLst/>
          </a:prstGeom>
          <a:noFill/>
        </p:spPr>
        <p:txBody>
          <a:bodyPr wrap="square" anchor="t" lIns="0" rIns="0" tIns="0" bIns="0">
            <a:spAutoFit/>
          </a:bodyPr>
          <a:lstStyle/>
          <a:p>
            <a:pPr algn="l"/>
            <a:r>
              <a:rPr sz="2600" b="1" i="0">
                <a:solidFill>
                  <a:srgbClr val="17365D"/>
                </a:solidFill>
                <a:latin typeface="Aptos"/>
              </a:rPr>
              <a:t>Read the paragraph — then decide: True / False / Not Given</a:t>
            </a:r>
          </a:p>
        </p:txBody>
      </p:sp>
      <p:sp>
        <p:nvSpPr>
          <p:cNvPr id="6" name="Oval 5"/>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46536"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1112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9400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meta6"/>
          <p:cNvSpPr txBox="1"/>
          <p:nvPr/>
        </p:nvSpPr>
        <p:spPr>
          <a:xfrm>
            <a:off x="8503920" y="274320"/>
            <a:ext cx="3108960" cy="320040"/>
          </a:xfrm>
          <a:prstGeom prst="rect">
            <a:avLst/>
          </a:prstGeom>
          <a:noFill/>
        </p:spPr>
        <p:txBody>
          <a:bodyPr wrap="square" anchor="t" lIns="0" rIns="0" tIns="0" bIns="0">
            <a:spAutoFit/>
          </a:bodyPr>
          <a:lstStyle/>
          <a:p>
            <a:pPr algn="r"/>
            <a:r>
              <a:rPr sz="1200" b="1" i="0">
                <a:solidFill>
                  <a:srgbClr val="5B7083"/>
                </a:solidFill>
                <a:latin typeface="Aptos"/>
              </a:rPr>
              <a:t>Q32  •  4 marks  •  Text 2, the whole text</a:t>
            </a:r>
          </a:p>
        </p:txBody>
      </p:sp>
      <p:sp>
        <p:nvSpPr>
          <p:cNvPr id="11" name="instr6"/>
          <p:cNvSpPr txBox="1"/>
          <p:nvPr/>
        </p:nvSpPr>
        <p:spPr>
          <a:xfrm>
            <a:off x="6492240" y="1060704"/>
            <a:ext cx="5440680" cy="777240"/>
          </a:xfrm>
          <a:prstGeom prst="rect">
            <a:avLst/>
          </a:prstGeom>
          <a:noFill/>
        </p:spPr>
        <p:txBody>
          <a:bodyPr wrap="square" anchor="t" lIns="0" rIns="0" tIns="0" bIns="0">
            <a:spAutoFit/>
          </a:bodyPr>
          <a:lstStyle/>
          <a:p>
            <a:pPr algn="l"/>
            <a:r>
              <a:rPr sz="1050" b="0" i="0">
                <a:solidFill>
                  <a:srgbClr val="17365D"/>
                </a:solidFill>
                <a:latin typeface="Aptos"/>
              </a:rPr>
              <a:t>Decide whether the following statements are True, False, or the information is Not Given. Blacken ONE circle only for each statement. (4 marks)</a:t>
            </a:r>
          </a:p>
        </p:txBody>
      </p:sp>
      <p:sp>
        <p:nvSpPr>
          <p:cNvPr id="12" name="q6_stmt1"/>
          <p:cNvSpPr txBox="1"/>
          <p:nvPr/>
        </p:nvSpPr>
        <p:spPr>
          <a:xfrm>
            <a:off x="6492240" y="1938528"/>
            <a:ext cx="3977639" cy="320040"/>
          </a:xfrm>
          <a:prstGeom prst="rect">
            <a:avLst/>
          </a:prstGeom>
          <a:noFill/>
        </p:spPr>
        <p:txBody>
          <a:bodyPr wrap="square" anchor="t" lIns="0" rIns="0" tIns="0" bIns="0">
            <a:spAutoFit/>
          </a:bodyPr>
          <a:lstStyle/>
          <a:p>
            <a:pPr algn="l"/>
            <a:r>
              <a:rPr sz="1050" b="1" i="0">
                <a:solidFill>
                  <a:srgbClr val="17365D"/>
                </a:solidFill>
                <a:latin typeface="Aptos"/>
              </a:rPr>
              <a:t>(i)  </a:t>
            </a:r>
            <a:r>
              <a:rPr sz="1050" b="0" i="0">
                <a:solidFill>
                  <a:srgbClr val="17365D"/>
                </a:solidFill>
                <a:latin typeface="Aptos"/>
              </a:rPr>
              <a:t>Zou teaches the guzheng.</a:t>
            </a:r>
          </a:p>
        </p:txBody>
      </p:sp>
      <p:sp>
        <p:nvSpPr>
          <p:cNvPr id="13" name="Rounded Rectangle 12"/>
          <p:cNvSpPr/>
          <p:nvPr/>
        </p:nvSpPr>
        <p:spPr>
          <a:xfrm>
            <a:off x="1056132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6_1_T"/>
          <p:cNvSpPr txBox="1"/>
          <p:nvPr/>
        </p:nvSpPr>
        <p:spPr>
          <a:xfrm>
            <a:off x="1056132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15" name="Rounded Rectangle 14"/>
          <p:cNvSpPr/>
          <p:nvPr/>
        </p:nvSpPr>
        <p:spPr>
          <a:xfrm>
            <a:off x="1092708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6_1_F"/>
          <p:cNvSpPr txBox="1"/>
          <p:nvPr/>
        </p:nvSpPr>
        <p:spPr>
          <a:xfrm>
            <a:off x="1092708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17" name="Rounded Rectangle 16"/>
          <p:cNvSpPr/>
          <p:nvPr/>
        </p:nvSpPr>
        <p:spPr>
          <a:xfrm>
            <a:off x="1129284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6_1_NG"/>
          <p:cNvSpPr txBox="1"/>
          <p:nvPr/>
        </p:nvSpPr>
        <p:spPr>
          <a:xfrm>
            <a:off x="1129284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19" name="ans6_1"/>
          <p:cNvSpPr txBox="1"/>
          <p:nvPr/>
        </p:nvSpPr>
        <p:spPr>
          <a:xfrm>
            <a:off x="10561320" y="192938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0" name="pct6_1"/>
          <p:cNvSpPr txBox="1"/>
          <p:nvPr/>
        </p:nvSpPr>
        <p:spPr>
          <a:xfrm>
            <a:off x="11521440" y="1965960"/>
            <a:ext cx="640080" cy="237744"/>
          </a:xfrm>
          <a:prstGeom prst="rect">
            <a:avLst/>
          </a:prstGeom>
          <a:noFill/>
        </p:spPr>
        <p:txBody>
          <a:bodyPr wrap="square" anchor="t" lIns="0" rIns="0" tIns="0" bIns="0">
            <a:spAutoFit/>
          </a:bodyPr>
          <a:lstStyle/>
          <a:p>
            <a:pPr algn="r"/>
            <a:r>
              <a:rPr sz="900" b="1" i="0">
                <a:solidFill>
                  <a:srgbClr val="FF0000"/>
                </a:solidFill>
                <a:latin typeface="Aptos"/>
              </a:rPr>
              <a:t>83%</a:t>
            </a:r>
          </a:p>
        </p:txBody>
      </p:sp>
      <p:sp>
        <p:nvSpPr>
          <p:cNvPr id="21" name="q6_stmt2"/>
          <p:cNvSpPr txBox="1"/>
          <p:nvPr/>
        </p:nvSpPr>
        <p:spPr>
          <a:xfrm>
            <a:off x="6492240" y="2615184"/>
            <a:ext cx="3977639" cy="320040"/>
          </a:xfrm>
          <a:prstGeom prst="rect">
            <a:avLst/>
          </a:prstGeom>
          <a:noFill/>
        </p:spPr>
        <p:txBody>
          <a:bodyPr wrap="square" anchor="t" lIns="0" rIns="0" tIns="0" bIns="0">
            <a:spAutoFit/>
          </a:bodyPr>
          <a:lstStyle/>
          <a:p>
            <a:pPr algn="l"/>
            <a:r>
              <a:rPr sz="1050" b="1" i="0">
                <a:solidFill>
                  <a:srgbClr val="17365D"/>
                </a:solidFill>
                <a:latin typeface="Aptos"/>
              </a:rPr>
              <a:t>(j)  </a:t>
            </a:r>
            <a:r>
              <a:rPr sz="1050" b="0" i="0">
                <a:solidFill>
                  <a:srgbClr val="17365D"/>
                </a:solidFill>
                <a:latin typeface="Aptos"/>
              </a:rPr>
              <a:t>The guzheng is Zou’s favourite instrument.</a:t>
            </a:r>
          </a:p>
        </p:txBody>
      </p:sp>
      <p:sp>
        <p:nvSpPr>
          <p:cNvPr id="22" name="Rounded Rectangle 21"/>
          <p:cNvSpPr/>
          <p:nvPr/>
        </p:nvSpPr>
        <p:spPr>
          <a:xfrm>
            <a:off x="1056132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6_2_T"/>
          <p:cNvSpPr txBox="1"/>
          <p:nvPr/>
        </p:nvSpPr>
        <p:spPr>
          <a:xfrm>
            <a:off x="1056132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24" name="Rounded Rectangle 23"/>
          <p:cNvSpPr/>
          <p:nvPr/>
        </p:nvSpPr>
        <p:spPr>
          <a:xfrm>
            <a:off x="1092708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6_2_F"/>
          <p:cNvSpPr txBox="1"/>
          <p:nvPr/>
        </p:nvSpPr>
        <p:spPr>
          <a:xfrm>
            <a:off x="1092708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26" name="Rounded Rectangle 25"/>
          <p:cNvSpPr/>
          <p:nvPr/>
        </p:nvSpPr>
        <p:spPr>
          <a:xfrm>
            <a:off x="11292840" y="2615184"/>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6_2_NG"/>
          <p:cNvSpPr txBox="1"/>
          <p:nvPr/>
        </p:nvSpPr>
        <p:spPr>
          <a:xfrm>
            <a:off x="11292840" y="2642616"/>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28" name="ans6_2"/>
          <p:cNvSpPr txBox="1"/>
          <p:nvPr/>
        </p:nvSpPr>
        <p:spPr>
          <a:xfrm>
            <a:off x="11292840" y="2606040"/>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9" name="pct6_2"/>
          <p:cNvSpPr txBox="1"/>
          <p:nvPr/>
        </p:nvSpPr>
        <p:spPr>
          <a:xfrm>
            <a:off x="11521440" y="2642616"/>
            <a:ext cx="640080" cy="237744"/>
          </a:xfrm>
          <a:prstGeom prst="rect">
            <a:avLst/>
          </a:prstGeom>
          <a:noFill/>
        </p:spPr>
        <p:txBody>
          <a:bodyPr wrap="square" anchor="t" lIns="0" rIns="0" tIns="0" bIns="0">
            <a:spAutoFit/>
          </a:bodyPr>
          <a:lstStyle/>
          <a:p>
            <a:pPr algn="r"/>
            <a:r>
              <a:rPr sz="900" b="1" i="0">
                <a:solidFill>
                  <a:srgbClr val="FF0000"/>
                </a:solidFill>
                <a:latin typeface="Aptos"/>
              </a:rPr>
              <a:t>67%</a:t>
            </a:r>
          </a:p>
        </p:txBody>
      </p:sp>
      <p:sp>
        <p:nvSpPr>
          <p:cNvPr id="30" name="q6_stmt3"/>
          <p:cNvSpPr txBox="1"/>
          <p:nvPr/>
        </p:nvSpPr>
        <p:spPr>
          <a:xfrm>
            <a:off x="6492240" y="3291840"/>
            <a:ext cx="3977639" cy="320040"/>
          </a:xfrm>
          <a:prstGeom prst="rect">
            <a:avLst/>
          </a:prstGeom>
          <a:noFill/>
        </p:spPr>
        <p:txBody>
          <a:bodyPr wrap="square" anchor="t" lIns="0" rIns="0" tIns="0" bIns="0">
            <a:spAutoFit/>
          </a:bodyPr>
          <a:lstStyle/>
          <a:p>
            <a:pPr algn="l"/>
            <a:r>
              <a:rPr sz="1050" b="1" i="0">
                <a:solidFill>
                  <a:srgbClr val="17365D"/>
                </a:solidFill>
                <a:latin typeface="Aptos"/>
              </a:rPr>
              <a:t>(k)  </a:t>
            </a:r>
            <a:r>
              <a:rPr sz="1050" b="0" i="0">
                <a:solidFill>
                  <a:srgbClr val="17365D"/>
                </a:solidFill>
                <a:latin typeface="Aptos"/>
              </a:rPr>
              <a:t>No one else in Zou’s family can play the guzheng.</a:t>
            </a:r>
          </a:p>
        </p:txBody>
      </p:sp>
      <p:sp>
        <p:nvSpPr>
          <p:cNvPr id="31" name="Rounded Rectangle 30"/>
          <p:cNvSpPr/>
          <p:nvPr/>
        </p:nvSpPr>
        <p:spPr>
          <a:xfrm>
            <a:off x="10561320" y="329184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6_3_T"/>
          <p:cNvSpPr txBox="1"/>
          <p:nvPr/>
        </p:nvSpPr>
        <p:spPr>
          <a:xfrm>
            <a:off x="10561320" y="3319272"/>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33" name="Rounded Rectangle 32"/>
          <p:cNvSpPr/>
          <p:nvPr/>
        </p:nvSpPr>
        <p:spPr>
          <a:xfrm>
            <a:off x="10927080" y="329184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6_3_F"/>
          <p:cNvSpPr txBox="1"/>
          <p:nvPr/>
        </p:nvSpPr>
        <p:spPr>
          <a:xfrm>
            <a:off x="10927080" y="3319272"/>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35" name="Rounded Rectangle 34"/>
          <p:cNvSpPr/>
          <p:nvPr/>
        </p:nvSpPr>
        <p:spPr>
          <a:xfrm>
            <a:off x="11292840" y="329184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6_3_NG"/>
          <p:cNvSpPr txBox="1"/>
          <p:nvPr/>
        </p:nvSpPr>
        <p:spPr>
          <a:xfrm>
            <a:off x="11292840" y="3319272"/>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37" name="ans6_3"/>
          <p:cNvSpPr txBox="1"/>
          <p:nvPr/>
        </p:nvSpPr>
        <p:spPr>
          <a:xfrm>
            <a:off x="10927080" y="3282696"/>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38" name="pct6_3"/>
          <p:cNvSpPr txBox="1"/>
          <p:nvPr/>
        </p:nvSpPr>
        <p:spPr>
          <a:xfrm>
            <a:off x="11521440" y="3319272"/>
            <a:ext cx="640080" cy="237744"/>
          </a:xfrm>
          <a:prstGeom prst="rect">
            <a:avLst/>
          </a:prstGeom>
          <a:noFill/>
        </p:spPr>
        <p:txBody>
          <a:bodyPr wrap="square" anchor="t" lIns="0" rIns="0" tIns="0" bIns="0">
            <a:spAutoFit/>
          </a:bodyPr>
          <a:lstStyle/>
          <a:p>
            <a:pPr algn="r"/>
            <a:r>
              <a:rPr sz="900" b="1" i="0">
                <a:solidFill>
                  <a:srgbClr val="FF0000"/>
                </a:solidFill>
                <a:latin typeface="Aptos"/>
              </a:rPr>
              <a:t>76%</a:t>
            </a:r>
          </a:p>
        </p:txBody>
      </p:sp>
      <p:sp>
        <p:nvSpPr>
          <p:cNvPr id="39" name="q6_stmt4"/>
          <p:cNvSpPr txBox="1"/>
          <p:nvPr/>
        </p:nvSpPr>
        <p:spPr>
          <a:xfrm>
            <a:off x="6492240" y="3968496"/>
            <a:ext cx="3977639" cy="320040"/>
          </a:xfrm>
          <a:prstGeom prst="rect">
            <a:avLst/>
          </a:prstGeom>
          <a:noFill/>
        </p:spPr>
        <p:txBody>
          <a:bodyPr wrap="square" anchor="t" lIns="0" rIns="0" tIns="0" bIns="0">
            <a:spAutoFit/>
          </a:bodyPr>
          <a:lstStyle/>
          <a:p>
            <a:pPr algn="l"/>
            <a:r>
              <a:rPr sz="1050" b="1" i="0">
                <a:solidFill>
                  <a:srgbClr val="17365D"/>
                </a:solidFill>
                <a:latin typeface="Aptos"/>
              </a:rPr>
              <a:t>(l)  </a:t>
            </a:r>
            <a:r>
              <a:rPr sz="1050" b="0" i="0">
                <a:solidFill>
                  <a:srgbClr val="17365D"/>
                </a:solidFill>
                <a:latin typeface="Aptos"/>
              </a:rPr>
              <a:t>Famous people have attended Zou’s performances.</a:t>
            </a:r>
          </a:p>
        </p:txBody>
      </p:sp>
      <p:sp>
        <p:nvSpPr>
          <p:cNvPr id="40" name="Rounded Rectangle 39"/>
          <p:cNvSpPr/>
          <p:nvPr/>
        </p:nvSpPr>
        <p:spPr>
          <a:xfrm>
            <a:off x="10561320" y="396849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ell6_4_T"/>
          <p:cNvSpPr txBox="1"/>
          <p:nvPr/>
        </p:nvSpPr>
        <p:spPr>
          <a:xfrm>
            <a:off x="10561320" y="3995928"/>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42" name="Rounded Rectangle 41"/>
          <p:cNvSpPr/>
          <p:nvPr/>
        </p:nvSpPr>
        <p:spPr>
          <a:xfrm>
            <a:off x="10927080" y="396849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ell6_4_F"/>
          <p:cNvSpPr txBox="1"/>
          <p:nvPr/>
        </p:nvSpPr>
        <p:spPr>
          <a:xfrm>
            <a:off x="10927080" y="3995928"/>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44" name="Rounded Rectangle 43"/>
          <p:cNvSpPr/>
          <p:nvPr/>
        </p:nvSpPr>
        <p:spPr>
          <a:xfrm>
            <a:off x="11292840" y="396849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ell6_4_NG"/>
          <p:cNvSpPr txBox="1"/>
          <p:nvPr/>
        </p:nvSpPr>
        <p:spPr>
          <a:xfrm>
            <a:off x="11292840" y="3995928"/>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46" name="ans6_4"/>
          <p:cNvSpPr txBox="1"/>
          <p:nvPr/>
        </p:nvSpPr>
        <p:spPr>
          <a:xfrm>
            <a:off x="10561320" y="3959352"/>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47" name="pct6_4"/>
          <p:cNvSpPr txBox="1"/>
          <p:nvPr/>
        </p:nvSpPr>
        <p:spPr>
          <a:xfrm>
            <a:off x="11521440" y="3995928"/>
            <a:ext cx="640080" cy="237744"/>
          </a:xfrm>
          <a:prstGeom prst="rect">
            <a:avLst/>
          </a:prstGeom>
          <a:noFill/>
        </p:spPr>
        <p:txBody>
          <a:bodyPr wrap="square" anchor="t" lIns="0" rIns="0" tIns="0" bIns="0">
            <a:spAutoFit/>
          </a:bodyPr>
          <a:lstStyle/>
          <a:p>
            <a:pPr algn="r"/>
            <a:r>
              <a:rPr sz="900" b="1" i="0">
                <a:solidFill>
                  <a:srgbClr val="FF0000"/>
                </a:solidFill>
                <a:latin typeface="Aptos"/>
              </a:rPr>
              <a:t>51%</a:t>
            </a:r>
          </a:p>
        </p:txBody>
      </p:sp>
      <p:pic>
        <p:nvPicPr>
          <p:cNvPr id="48" name="crop6_1" descr="q6_2013B1_Q32.png"/>
          <p:cNvPicPr>
            <a:picLocks noChangeAspect="1"/>
          </p:cNvPicPr>
          <p:nvPr/>
        </p:nvPicPr>
        <p:blipFill>
          <a:blip r:embed="rId2"/>
          <a:stretch>
            <a:fillRect/>
          </a:stretch>
        </p:blipFill>
        <p:spPr>
          <a:xfrm>
            <a:off x="411480" y="1417320"/>
            <a:ext cx="3106295" cy="4892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9" presetID="10" presetClass="entr" presetSubtype="0" fill="hold"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set>
                          <p:cBhvr>
                            <p:cTn id="6"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par>
                    <p:cTn id="16"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set>
                          <p:cBhvr>
                            <p:cTn id="13"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23" presetID="10" presetClass="entr" presetSubtype="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set>
                          <p:cBhvr>
                            <p:cTn id="20"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par>
                    <p:cTn id="30" presetID="10" presetClass="entr" presetSubtype="0"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6" dur="500"/>
                            <p:tgtEl>
                              <p:spTgt spid="46"/>
                            </p:tgtEl>
                          </p:cBhvr>
                        </p:animEffect>
                        <p:set>
                          <p:cBhvr>
                            <p:cTn id="27" dur="1" fill="hold">
                              <p:stCondLst>
                                <p:cond delay="0"/>
                              </p:stCondLst>
                            </p:cTn>
                            <p:tgtEl>
                              <p:spTgt spid="47"/>
                            </p:tgtEl>
                            <p:attrNameLst>
                              <p:attrName>style.visibility</p:attrName>
                            </p:attrNameLst>
                          </p:cBhvr>
                          <p:to>
                            <p:strVal val="visible"/>
                          </p:to>
                        </p:set>
                        <p:animEffect transition="in" filter="fade">
                          <p:cBhvr>
                            <p:cTn id="29" dur="500"/>
                            <p:tgtEl>
                              <p:spTgt spid="47"/>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84048"/>
            <a:ext cx="12188952" cy="6473952"/>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02920" y="274320"/>
            <a:ext cx="8686800" cy="320040"/>
          </a:xfrm>
          <a:prstGeom prst="rect">
            <a:avLst/>
          </a:prstGeom>
          <a:noFill/>
        </p:spPr>
        <p:txBody>
          <a:bodyPr wrap="square" anchor="t" lIns="0" rIns="0" tIns="0" bIns="0">
            <a:spAutoFit/>
          </a:bodyPr>
          <a:lstStyle/>
          <a:p>
            <a:pPr algn="l"/>
            <a:r>
              <a:rPr sz="1000" b="1" i="0">
                <a:solidFill>
                  <a:srgbClr val="45B7A5"/>
                </a:solidFill>
                <a:latin typeface="Aptos"/>
              </a:rPr>
              <a:t>T / F / NG QUESTION 7 OF 8   •   2013 DSE PAPER 1 PART B1</a:t>
            </a:r>
          </a:p>
        </p:txBody>
      </p:sp>
      <p:sp>
        <p:nvSpPr>
          <p:cNvPr id="5" name="title"/>
          <p:cNvSpPr txBox="1"/>
          <p:nvPr/>
        </p:nvSpPr>
        <p:spPr>
          <a:xfrm>
            <a:off x="502920" y="621792"/>
            <a:ext cx="10515600" cy="640080"/>
          </a:xfrm>
          <a:prstGeom prst="rect">
            <a:avLst/>
          </a:prstGeom>
          <a:noFill/>
        </p:spPr>
        <p:txBody>
          <a:bodyPr wrap="square" anchor="t" lIns="0" rIns="0" tIns="0" bIns="0">
            <a:spAutoFit/>
          </a:bodyPr>
          <a:lstStyle/>
          <a:p>
            <a:pPr algn="l"/>
            <a:r>
              <a:rPr sz="2600" b="1" i="0">
                <a:solidFill>
                  <a:srgbClr val="17365D"/>
                </a:solidFill>
                <a:latin typeface="Aptos"/>
              </a:rPr>
              <a:t>Read the paragraph — then decide: True / False / Not Given</a:t>
            </a:r>
          </a:p>
        </p:txBody>
      </p:sp>
      <p:sp>
        <p:nvSpPr>
          <p:cNvPr id="6" name="Oval 5"/>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46536"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1112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9400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meta7"/>
          <p:cNvSpPr txBox="1"/>
          <p:nvPr/>
        </p:nvSpPr>
        <p:spPr>
          <a:xfrm>
            <a:off x="8503920" y="274320"/>
            <a:ext cx="3108960" cy="320040"/>
          </a:xfrm>
          <a:prstGeom prst="rect">
            <a:avLst/>
          </a:prstGeom>
          <a:noFill/>
        </p:spPr>
        <p:txBody>
          <a:bodyPr wrap="square" anchor="t" lIns="0" rIns="0" tIns="0" bIns="0">
            <a:spAutoFit/>
          </a:bodyPr>
          <a:lstStyle/>
          <a:p>
            <a:pPr algn="r"/>
            <a:r>
              <a:rPr sz="1200" b="1" i="0">
                <a:solidFill>
                  <a:srgbClr val="5B7083"/>
                </a:solidFill>
                <a:latin typeface="Aptos"/>
              </a:rPr>
              <a:t>Q42  •  3 marks  •  Text 3, paragraphs 7-9</a:t>
            </a:r>
          </a:p>
        </p:txBody>
      </p:sp>
      <p:sp>
        <p:nvSpPr>
          <p:cNvPr id="11" name="instr7"/>
          <p:cNvSpPr txBox="1"/>
          <p:nvPr/>
        </p:nvSpPr>
        <p:spPr>
          <a:xfrm>
            <a:off x="6492240" y="1060704"/>
            <a:ext cx="5440680" cy="777240"/>
          </a:xfrm>
          <a:prstGeom prst="rect">
            <a:avLst/>
          </a:prstGeom>
          <a:noFill/>
        </p:spPr>
        <p:txBody>
          <a:bodyPr wrap="square" anchor="t" lIns="0" rIns="0" tIns="0" bIns="0">
            <a:spAutoFit/>
          </a:bodyPr>
          <a:lstStyle/>
          <a:p>
            <a:pPr algn="l"/>
            <a:r>
              <a:rPr sz="1050" b="0" i="0">
                <a:solidFill>
                  <a:srgbClr val="17365D"/>
                </a:solidFill>
                <a:latin typeface="Aptos"/>
              </a:rPr>
              <a:t>Read paragraphs 7-9 and decide whether the following statements are True, False, or the information is Not Given. Blacken ONE circle only for each statement. (3 marks)</a:t>
            </a:r>
          </a:p>
        </p:txBody>
      </p:sp>
      <p:sp>
        <p:nvSpPr>
          <p:cNvPr id="12" name="q7_stmt1"/>
          <p:cNvSpPr txBox="1"/>
          <p:nvPr/>
        </p:nvSpPr>
        <p:spPr>
          <a:xfrm>
            <a:off x="6492240" y="1938528"/>
            <a:ext cx="3977639" cy="502920"/>
          </a:xfrm>
          <a:prstGeom prst="rect">
            <a:avLst/>
          </a:prstGeom>
          <a:noFill/>
        </p:spPr>
        <p:txBody>
          <a:bodyPr wrap="square" anchor="t" lIns="0" rIns="0" tIns="0" bIns="0">
            <a:spAutoFit/>
          </a:bodyPr>
          <a:lstStyle/>
          <a:p>
            <a:pPr algn="l"/>
            <a:r>
              <a:rPr sz="1050" b="1" i="0">
                <a:solidFill>
                  <a:srgbClr val="17365D"/>
                </a:solidFill>
                <a:latin typeface="Aptos"/>
              </a:rPr>
              <a:t>(i)  </a:t>
            </a:r>
            <a:r>
              <a:rPr sz="1050" b="0" i="0">
                <a:solidFill>
                  <a:srgbClr val="17365D"/>
                </a:solidFill>
                <a:latin typeface="Aptos"/>
              </a:rPr>
              <a:t>People with low self-esteem feel that Facebook is a safe place to share information about themselves.</a:t>
            </a:r>
          </a:p>
        </p:txBody>
      </p:sp>
      <p:sp>
        <p:nvSpPr>
          <p:cNvPr id="13" name="Rounded Rectangle 12"/>
          <p:cNvSpPr/>
          <p:nvPr/>
        </p:nvSpPr>
        <p:spPr>
          <a:xfrm>
            <a:off x="1056132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7_1_T"/>
          <p:cNvSpPr txBox="1"/>
          <p:nvPr/>
        </p:nvSpPr>
        <p:spPr>
          <a:xfrm>
            <a:off x="1056132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15" name="Rounded Rectangle 14"/>
          <p:cNvSpPr/>
          <p:nvPr/>
        </p:nvSpPr>
        <p:spPr>
          <a:xfrm>
            <a:off x="1092708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7_1_F"/>
          <p:cNvSpPr txBox="1"/>
          <p:nvPr/>
        </p:nvSpPr>
        <p:spPr>
          <a:xfrm>
            <a:off x="1092708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17" name="Rounded Rectangle 16"/>
          <p:cNvSpPr/>
          <p:nvPr/>
        </p:nvSpPr>
        <p:spPr>
          <a:xfrm>
            <a:off x="1129284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7_1_NG"/>
          <p:cNvSpPr txBox="1"/>
          <p:nvPr/>
        </p:nvSpPr>
        <p:spPr>
          <a:xfrm>
            <a:off x="1129284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19" name="ans7_1"/>
          <p:cNvSpPr txBox="1"/>
          <p:nvPr/>
        </p:nvSpPr>
        <p:spPr>
          <a:xfrm>
            <a:off x="10561320" y="192938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0" name="pct7_1"/>
          <p:cNvSpPr txBox="1"/>
          <p:nvPr/>
        </p:nvSpPr>
        <p:spPr>
          <a:xfrm>
            <a:off x="11521440" y="1965960"/>
            <a:ext cx="640080" cy="237744"/>
          </a:xfrm>
          <a:prstGeom prst="rect">
            <a:avLst/>
          </a:prstGeom>
          <a:noFill/>
        </p:spPr>
        <p:txBody>
          <a:bodyPr wrap="square" anchor="t" lIns="0" rIns="0" tIns="0" bIns="0">
            <a:spAutoFit/>
          </a:bodyPr>
          <a:lstStyle/>
          <a:p>
            <a:pPr algn="r"/>
            <a:r>
              <a:rPr sz="900" b="1" i="0">
                <a:solidFill>
                  <a:srgbClr val="FF0000"/>
                </a:solidFill>
                <a:latin typeface="Aptos"/>
              </a:rPr>
              <a:t>57%</a:t>
            </a:r>
          </a:p>
        </p:txBody>
      </p:sp>
      <p:sp>
        <p:nvSpPr>
          <p:cNvPr id="21" name="q7_stmt2"/>
          <p:cNvSpPr txBox="1"/>
          <p:nvPr/>
        </p:nvSpPr>
        <p:spPr>
          <a:xfrm>
            <a:off x="6492240" y="2679192"/>
            <a:ext cx="3977639" cy="502920"/>
          </a:xfrm>
          <a:prstGeom prst="rect">
            <a:avLst/>
          </a:prstGeom>
          <a:noFill/>
        </p:spPr>
        <p:txBody>
          <a:bodyPr wrap="square" anchor="t" lIns="0" rIns="0" tIns="0" bIns="0">
            <a:spAutoFit/>
          </a:bodyPr>
          <a:lstStyle/>
          <a:p>
            <a:pPr algn="l"/>
            <a:r>
              <a:rPr sz="1050" b="1" i="0">
                <a:solidFill>
                  <a:srgbClr val="17365D"/>
                </a:solidFill>
                <a:latin typeface="Aptos"/>
              </a:rPr>
              <a:t>(j)  </a:t>
            </a:r>
            <a:r>
              <a:rPr sz="1050" b="0" i="0">
                <a:solidFill>
                  <a:srgbClr val="17365D"/>
                </a:solidFill>
                <a:latin typeface="Aptos"/>
              </a:rPr>
              <a:t>It is more difficult to read someone’s reaction when you talk to them face to face than through Facebook.</a:t>
            </a:r>
          </a:p>
        </p:txBody>
      </p:sp>
      <p:sp>
        <p:nvSpPr>
          <p:cNvPr id="22" name="Rounded Rectangle 21"/>
          <p:cNvSpPr/>
          <p:nvPr/>
        </p:nvSpPr>
        <p:spPr>
          <a:xfrm>
            <a:off x="1056132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7_2_T"/>
          <p:cNvSpPr txBox="1"/>
          <p:nvPr/>
        </p:nvSpPr>
        <p:spPr>
          <a:xfrm>
            <a:off x="1056132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24" name="Rounded Rectangle 23"/>
          <p:cNvSpPr/>
          <p:nvPr/>
        </p:nvSpPr>
        <p:spPr>
          <a:xfrm>
            <a:off x="1092708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7_2_F"/>
          <p:cNvSpPr txBox="1"/>
          <p:nvPr/>
        </p:nvSpPr>
        <p:spPr>
          <a:xfrm>
            <a:off x="1092708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26" name="Rounded Rectangle 25"/>
          <p:cNvSpPr/>
          <p:nvPr/>
        </p:nvSpPr>
        <p:spPr>
          <a:xfrm>
            <a:off x="1129284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7_2_NG"/>
          <p:cNvSpPr txBox="1"/>
          <p:nvPr/>
        </p:nvSpPr>
        <p:spPr>
          <a:xfrm>
            <a:off x="1129284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28" name="ans7_2"/>
          <p:cNvSpPr txBox="1"/>
          <p:nvPr/>
        </p:nvSpPr>
        <p:spPr>
          <a:xfrm>
            <a:off x="10927080" y="2670048"/>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9" name="pct7_2"/>
          <p:cNvSpPr txBox="1"/>
          <p:nvPr/>
        </p:nvSpPr>
        <p:spPr>
          <a:xfrm>
            <a:off x="11521440" y="2706624"/>
            <a:ext cx="640080" cy="237744"/>
          </a:xfrm>
          <a:prstGeom prst="rect">
            <a:avLst/>
          </a:prstGeom>
          <a:noFill/>
        </p:spPr>
        <p:txBody>
          <a:bodyPr wrap="square" anchor="t" lIns="0" rIns="0" tIns="0" bIns="0">
            <a:spAutoFit/>
          </a:bodyPr>
          <a:lstStyle/>
          <a:p>
            <a:pPr algn="r"/>
            <a:r>
              <a:rPr sz="900" b="1" i="0">
                <a:solidFill>
                  <a:srgbClr val="FF0000"/>
                </a:solidFill>
                <a:latin typeface="Aptos"/>
              </a:rPr>
              <a:t>36%</a:t>
            </a:r>
          </a:p>
        </p:txBody>
      </p:sp>
      <p:sp>
        <p:nvSpPr>
          <p:cNvPr id="30" name="q7_stmt3"/>
          <p:cNvSpPr txBox="1"/>
          <p:nvPr/>
        </p:nvSpPr>
        <p:spPr>
          <a:xfrm>
            <a:off x="6492240" y="3419856"/>
            <a:ext cx="3977639" cy="502920"/>
          </a:xfrm>
          <a:prstGeom prst="rect">
            <a:avLst/>
          </a:prstGeom>
          <a:noFill/>
        </p:spPr>
        <p:txBody>
          <a:bodyPr wrap="square" anchor="t" lIns="0" rIns="0" tIns="0" bIns="0">
            <a:spAutoFit/>
          </a:bodyPr>
          <a:lstStyle/>
          <a:p>
            <a:pPr algn="l"/>
            <a:r>
              <a:rPr sz="1050" b="1" i="0">
                <a:solidFill>
                  <a:srgbClr val="17365D"/>
                </a:solidFill>
                <a:latin typeface="Aptos"/>
              </a:rPr>
              <a:t>(k)  </a:t>
            </a:r>
            <a:r>
              <a:rPr sz="1050" b="0" i="0">
                <a:solidFill>
                  <a:srgbClr val="17365D"/>
                </a:solidFill>
                <a:latin typeface="Aptos"/>
              </a:rPr>
              <a:t>Participants of the study checked their e-mails even though they said they would rather sleep.</a:t>
            </a:r>
          </a:p>
        </p:txBody>
      </p:sp>
      <p:sp>
        <p:nvSpPr>
          <p:cNvPr id="31" name="Rounded Rectangle 30"/>
          <p:cNvSpPr/>
          <p:nvPr/>
        </p:nvSpPr>
        <p:spPr>
          <a:xfrm>
            <a:off x="10561320" y="341985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7_3_T"/>
          <p:cNvSpPr txBox="1"/>
          <p:nvPr/>
        </p:nvSpPr>
        <p:spPr>
          <a:xfrm>
            <a:off x="10561320" y="3447288"/>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33" name="Rounded Rectangle 32"/>
          <p:cNvSpPr/>
          <p:nvPr/>
        </p:nvSpPr>
        <p:spPr>
          <a:xfrm>
            <a:off x="10927080" y="341985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7_3_F"/>
          <p:cNvSpPr txBox="1"/>
          <p:nvPr/>
        </p:nvSpPr>
        <p:spPr>
          <a:xfrm>
            <a:off x="10927080" y="3447288"/>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35" name="Rounded Rectangle 34"/>
          <p:cNvSpPr/>
          <p:nvPr/>
        </p:nvSpPr>
        <p:spPr>
          <a:xfrm>
            <a:off x="11292840" y="341985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7_3_NG"/>
          <p:cNvSpPr txBox="1"/>
          <p:nvPr/>
        </p:nvSpPr>
        <p:spPr>
          <a:xfrm>
            <a:off x="11292840" y="3447288"/>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37" name="ans7_3"/>
          <p:cNvSpPr txBox="1"/>
          <p:nvPr/>
        </p:nvSpPr>
        <p:spPr>
          <a:xfrm>
            <a:off x="10561320" y="3410712"/>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38" name="pct7_3"/>
          <p:cNvSpPr txBox="1"/>
          <p:nvPr/>
        </p:nvSpPr>
        <p:spPr>
          <a:xfrm>
            <a:off x="11521440" y="3447288"/>
            <a:ext cx="640080" cy="237744"/>
          </a:xfrm>
          <a:prstGeom prst="rect">
            <a:avLst/>
          </a:prstGeom>
          <a:noFill/>
        </p:spPr>
        <p:txBody>
          <a:bodyPr wrap="square" anchor="t" lIns="0" rIns="0" tIns="0" bIns="0">
            <a:spAutoFit/>
          </a:bodyPr>
          <a:lstStyle/>
          <a:p>
            <a:pPr algn="r"/>
            <a:r>
              <a:rPr sz="900" b="1" i="0">
                <a:solidFill>
                  <a:srgbClr val="FF0000"/>
                </a:solidFill>
                <a:latin typeface="Aptos"/>
              </a:rPr>
              <a:t>47%</a:t>
            </a:r>
          </a:p>
        </p:txBody>
      </p:sp>
      <p:pic>
        <p:nvPicPr>
          <p:cNvPr id="39" name="crop7_1" descr="q7a_2013B1_Q42.png"/>
          <p:cNvPicPr>
            <a:picLocks noChangeAspect="1"/>
          </p:cNvPicPr>
          <p:nvPr/>
        </p:nvPicPr>
        <p:blipFill>
          <a:blip r:embed="rId2"/>
          <a:stretch>
            <a:fillRect/>
          </a:stretch>
        </p:blipFill>
        <p:spPr>
          <a:xfrm>
            <a:off x="411480" y="1417320"/>
            <a:ext cx="2893670" cy="491924"/>
          </a:xfrm>
          <a:prstGeom prst="rect">
            <a:avLst/>
          </a:prstGeom>
        </p:spPr>
      </p:pic>
      <p:sp>
        <p:nvSpPr>
          <p:cNvPr id="40" name="cap7_1"/>
          <p:cNvSpPr txBox="1"/>
          <p:nvPr/>
        </p:nvSpPr>
        <p:spPr>
          <a:xfrm>
            <a:off x="411480" y="6062472"/>
            <a:ext cx="2893670" cy="228600"/>
          </a:xfrm>
          <a:prstGeom prst="rect">
            <a:avLst/>
          </a:prstGeom>
          <a:noFill/>
        </p:spPr>
        <p:txBody>
          <a:bodyPr wrap="square" anchor="t" lIns="0" rIns="0" tIns="0" bIns="0">
            <a:spAutoFit/>
          </a:bodyPr>
          <a:lstStyle/>
          <a:p>
            <a:pPr algn="l"/>
            <a:r>
              <a:rPr sz="950" b="1" i="0">
                <a:solidFill>
                  <a:srgbClr val="5B7083"/>
                </a:solidFill>
                <a:latin typeface="Aptos"/>
              </a:rPr>
              <a:t>Text 3, ¶7</a:t>
            </a:r>
          </a:p>
        </p:txBody>
      </p:sp>
      <p:pic>
        <p:nvPicPr>
          <p:cNvPr id="41" name="crop7_2" descr="q7b_2013B1_Q42.png"/>
          <p:cNvPicPr>
            <a:picLocks noChangeAspect="1"/>
          </p:cNvPicPr>
          <p:nvPr/>
        </p:nvPicPr>
        <p:blipFill>
          <a:blip r:embed="rId3"/>
          <a:stretch>
            <a:fillRect/>
          </a:stretch>
        </p:blipFill>
        <p:spPr>
          <a:xfrm>
            <a:off x="3433166" y="1417320"/>
            <a:ext cx="2835797" cy="4572000"/>
          </a:xfrm>
          <a:prstGeom prst="rect">
            <a:avLst/>
          </a:prstGeom>
        </p:spPr>
      </p:pic>
      <p:sp>
        <p:nvSpPr>
          <p:cNvPr id="42" name="cap7_2"/>
          <p:cNvSpPr txBox="1"/>
          <p:nvPr/>
        </p:nvSpPr>
        <p:spPr>
          <a:xfrm>
            <a:off x="3433166" y="6062472"/>
            <a:ext cx="2835797" cy="228600"/>
          </a:xfrm>
          <a:prstGeom prst="rect">
            <a:avLst/>
          </a:prstGeom>
          <a:noFill/>
        </p:spPr>
        <p:txBody>
          <a:bodyPr wrap="square" anchor="t" lIns="0" rIns="0" tIns="0" bIns="0">
            <a:spAutoFit/>
          </a:bodyPr>
          <a:lstStyle/>
          <a:p>
            <a:pPr algn="l"/>
            <a:r>
              <a:rPr sz="950" b="1" i="0">
                <a:solidFill>
                  <a:srgbClr val="5B7083"/>
                </a:solidFill>
                <a:latin typeface="Aptos"/>
              </a:rPr>
              <a:t>Text 3, ¶8–9</a:t>
            </a:r>
          </a:p>
        </p:txBody>
      </p:sp>
    </p:spTree>
  </p:cSld>
  <p:clrMapOvr>
    <a:masterClrMapping/>
  </p:clrMapOvr>
  <p:timing>
    <p:tnLst>
      <p:par>
        <p:cTn id="1" dur="indefinite" restart="never" nodeType="tmRoot">
          <p:childTnLst>
            <p:seq concurrent="1" nextAc="seek">
              <p:cTn id="2" dur="indefinite" nodeType="mainSeq">
                <p:childTnLst>
                  <p:par>
                    <p:cTn id="9" presetID="10" presetClass="entr" presetSubtype="0" fill="hold"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set>
                          <p:cBhvr>
                            <p:cTn id="6"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par>
                    <p:cTn id="16"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set>
                          <p:cBhvr>
                            <p:cTn id="13"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23" presetID="10" presetClass="entr" presetSubtype="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set>
                          <p:cBhvr>
                            <p:cTn id="20"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384048"/>
            <a:ext cx="12188952" cy="6473952"/>
          </a:xfrm>
          <a:prstGeom prst="rect">
            <a:avLst/>
          </a:prstGeom>
          <a:solidFill>
            <a:srgbClr val="FDFB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46304"/>
          </a:xfrm>
          <a:prstGeom prst="rect">
            <a:avLst/>
          </a:prstGeom>
          <a:solidFill>
            <a:srgbClr val="45B7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kicker"/>
          <p:cNvSpPr txBox="1"/>
          <p:nvPr/>
        </p:nvSpPr>
        <p:spPr>
          <a:xfrm>
            <a:off x="502920" y="274320"/>
            <a:ext cx="8686800" cy="320040"/>
          </a:xfrm>
          <a:prstGeom prst="rect">
            <a:avLst/>
          </a:prstGeom>
          <a:noFill/>
        </p:spPr>
        <p:txBody>
          <a:bodyPr wrap="square" anchor="t" lIns="0" rIns="0" tIns="0" bIns="0">
            <a:spAutoFit/>
          </a:bodyPr>
          <a:lstStyle/>
          <a:p>
            <a:pPr algn="l"/>
            <a:r>
              <a:rPr sz="1000" b="1" i="0">
                <a:solidFill>
                  <a:srgbClr val="45B7A5"/>
                </a:solidFill>
                <a:latin typeface="Aptos"/>
              </a:rPr>
              <a:t>T / F / NG QUESTION 8 OF 8   •   2013 DSE PAPER 1 PART B2</a:t>
            </a:r>
          </a:p>
        </p:txBody>
      </p:sp>
      <p:sp>
        <p:nvSpPr>
          <p:cNvPr id="5" name="title"/>
          <p:cNvSpPr txBox="1"/>
          <p:nvPr/>
        </p:nvSpPr>
        <p:spPr>
          <a:xfrm>
            <a:off x="502920" y="621792"/>
            <a:ext cx="10515600" cy="640080"/>
          </a:xfrm>
          <a:prstGeom prst="rect">
            <a:avLst/>
          </a:prstGeom>
          <a:noFill/>
        </p:spPr>
        <p:txBody>
          <a:bodyPr wrap="square" anchor="t" lIns="0" rIns="0" tIns="0" bIns="0">
            <a:spAutoFit/>
          </a:bodyPr>
          <a:lstStyle/>
          <a:p>
            <a:pPr algn="l"/>
            <a:r>
              <a:rPr sz="2600" b="1" i="0">
                <a:solidFill>
                  <a:srgbClr val="17365D"/>
                </a:solidFill>
                <a:latin typeface="Aptos"/>
              </a:rPr>
              <a:t>Read the paragraph — then decide: True / False / Not Given</a:t>
            </a:r>
          </a:p>
        </p:txBody>
      </p:sp>
      <p:sp>
        <p:nvSpPr>
          <p:cNvPr id="6" name="Oval 5"/>
          <p:cNvSpPr/>
          <p:nvPr/>
        </p:nvSpPr>
        <p:spPr>
          <a:xfrm>
            <a:off x="11109960" y="384048"/>
            <a:ext cx="438912" cy="438912"/>
          </a:xfrm>
          <a:prstGeom prst="ellipse">
            <a:avLst/>
          </a:prstGeom>
          <a:solidFill>
            <a:srgbClr val="F7D7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146536"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31112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494008" y="18288"/>
            <a:ext cx="109728" cy="109728"/>
          </a:xfrm>
          <a:prstGeom prst="ellipse">
            <a:avLst/>
          </a:prstGeom>
          <a:solidFill>
            <a:srgbClr val="F28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qmeta8"/>
          <p:cNvSpPr txBox="1"/>
          <p:nvPr/>
        </p:nvSpPr>
        <p:spPr>
          <a:xfrm>
            <a:off x="8503920" y="274320"/>
            <a:ext cx="3108960" cy="320040"/>
          </a:xfrm>
          <a:prstGeom prst="rect">
            <a:avLst/>
          </a:prstGeom>
          <a:noFill/>
        </p:spPr>
        <p:txBody>
          <a:bodyPr wrap="square" anchor="t" lIns="0" rIns="0" tIns="0" bIns="0">
            <a:spAutoFit/>
          </a:bodyPr>
          <a:lstStyle/>
          <a:p>
            <a:pPr algn="r"/>
            <a:r>
              <a:rPr sz="1200" b="1" i="0">
                <a:solidFill>
                  <a:srgbClr val="5B7083"/>
                </a:solidFill>
                <a:latin typeface="Aptos"/>
              </a:rPr>
              <a:t>Q52  •  4 marks  •  Text 4, paragraphs 4-5</a:t>
            </a:r>
          </a:p>
        </p:txBody>
      </p:sp>
      <p:sp>
        <p:nvSpPr>
          <p:cNvPr id="11" name="instr8"/>
          <p:cNvSpPr txBox="1"/>
          <p:nvPr/>
        </p:nvSpPr>
        <p:spPr>
          <a:xfrm>
            <a:off x="6492240" y="1060704"/>
            <a:ext cx="5440680" cy="777240"/>
          </a:xfrm>
          <a:prstGeom prst="rect">
            <a:avLst/>
          </a:prstGeom>
          <a:noFill/>
        </p:spPr>
        <p:txBody>
          <a:bodyPr wrap="square" anchor="t" lIns="0" rIns="0" tIns="0" bIns="0">
            <a:spAutoFit/>
          </a:bodyPr>
          <a:lstStyle/>
          <a:p>
            <a:pPr algn="l"/>
            <a:r>
              <a:rPr sz="1050" b="0" i="0">
                <a:solidFill>
                  <a:srgbClr val="17365D"/>
                </a:solidFill>
                <a:latin typeface="Aptos"/>
              </a:rPr>
              <a:t>Read paragraphs 4-5 and decide whether the following statements are True, False, or the information is Not Given. Blacken ONE circle only for each statement. (4 marks)</a:t>
            </a:r>
          </a:p>
        </p:txBody>
      </p:sp>
      <p:sp>
        <p:nvSpPr>
          <p:cNvPr id="12" name="q8_stmt1"/>
          <p:cNvSpPr txBox="1"/>
          <p:nvPr/>
        </p:nvSpPr>
        <p:spPr>
          <a:xfrm>
            <a:off x="6492240" y="1938528"/>
            <a:ext cx="3977639" cy="502920"/>
          </a:xfrm>
          <a:prstGeom prst="rect">
            <a:avLst/>
          </a:prstGeom>
          <a:noFill/>
        </p:spPr>
        <p:txBody>
          <a:bodyPr wrap="square" anchor="t" lIns="0" rIns="0" tIns="0" bIns="0">
            <a:spAutoFit/>
          </a:bodyPr>
          <a:lstStyle/>
          <a:p>
            <a:pPr algn="l"/>
            <a:r>
              <a:rPr sz="1050" b="1" i="0">
                <a:solidFill>
                  <a:srgbClr val="17365D"/>
                </a:solidFill>
                <a:latin typeface="Aptos"/>
              </a:rPr>
              <a:t>(i)  </a:t>
            </a:r>
            <a:r>
              <a:rPr sz="1050" b="0" i="0">
                <a:solidFill>
                  <a:srgbClr val="17365D"/>
                </a:solidFill>
                <a:latin typeface="Aptos"/>
              </a:rPr>
              <a:t>The Hunger Games is the only example of the current popularity in dystopian fiction.</a:t>
            </a:r>
          </a:p>
        </p:txBody>
      </p:sp>
      <p:sp>
        <p:nvSpPr>
          <p:cNvPr id="13" name="Rounded Rectangle 12"/>
          <p:cNvSpPr/>
          <p:nvPr/>
        </p:nvSpPr>
        <p:spPr>
          <a:xfrm>
            <a:off x="1056132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cell8_1_T"/>
          <p:cNvSpPr txBox="1"/>
          <p:nvPr/>
        </p:nvSpPr>
        <p:spPr>
          <a:xfrm>
            <a:off x="1056132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15" name="Rounded Rectangle 14"/>
          <p:cNvSpPr/>
          <p:nvPr/>
        </p:nvSpPr>
        <p:spPr>
          <a:xfrm>
            <a:off x="1092708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cell8_1_F"/>
          <p:cNvSpPr txBox="1"/>
          <p:nvPr/>
        </p:nvSpPr>
        <p:spPr>
          <a:xfrm>
            <a:off x="1092708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17" name="Rounded Rectangle 16"/>
          <p:cNvSpPr/>
          <p:nvPr/>
        </p:nvSpPr>
        <p:spPr>
          <a:xfrm>
            <a:off x="11292840" y="1938528"/>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ell8_1_NG"/>
          <p:cNvSpPr txBox="1"/>
          <p:nvPr/>
        </p:nvSpPr>
        <p:spPr>
          <a:xfrm>
            <a:off x="11292840" y="1965960"/>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19" name="ans8_1"/>
          <p:cNvSpPr txBox="1"/>
          <p:nvPr/>
        </p:nvSpPr>
        <p:spPr>
          <a:xfrm>
            <a:off x="10927080" y="1929384"/>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0" name="pct8_1"/>
          <p:cNvSpPr txBox="1"/>
          <p:nvPr/>
        </p:nvSpPr>
        <p:spPr>
          <a:xfrm>
            <a:off x="11521440" y="1965960"/>
            <a:ext cx="640080" cy="237744"/>
          </a:xfrm>
          <a:prstGeom prst="rect">
            <a:avLst/>
          </a:prstGeom>
          <a:noFill/>
        </p:spPr>
        <p:txBody>
          <a:bodyPr wrap="square" anchor="t" lIns="0" rIns="0" tIns="0" bIns="0">
            <a:spAutoFit/>
          </a:bodyPr>
          <a:lstStyle/>
          <a:p>
            <a:pPr algn="r"/>
            <a:r>
              <a:rPr sz="900" b="1" i="0">
                <a:solidFill>
                  <a:srgbClr val="FF0000"/>
                </a:solidFill>
                <a:latin typeface="Aptos"/>
              </a:rPr>
              <a:t>84%</a:t>
            </a:r>
          </a:p>
        </p:txBody>
      </p:sp>
      <p:sp>
        <p:nvSpPr>
          <p:cNvPr id="21" name="q8_stmt2"/>
          <p:cNvSpPr txBox="1"/>
          <p:nvPr/>
        </p:nvSpPr>
        <p:spPr>
          <a:xfrm>
            <a:off x="6492240" y="2679192"/>
            <a:ext cx="3977639" cy="502920"/>
          </a:xfrm>
          <a:prstGeom prst="rect">
            <a:avLst/>
          </a:prstGeom>
          <a:noFill/>
        </p:spPr>
        <p:txBody>
          <a:bodyPr wrap="square" anchor="t" lIns="0" rIns="0" tIns="0" bIns="0">
            <a:spAutoFit/>
          </a:bodyPr>
          <a:lstStyle/>
          <a:p>
            <a:pPr algn="l"/>
            <a:r>
              <a:rPr sz="1050" b="1" i="0">
                <a:solidFill>
                  <a:srgbClr val="17365D"/>
                </a:solidFill>
                <a:latin typeface="Aptos"/>
              </a:rPr>
              <a:t>(j)  </a:t>
            </a:r>
            <a:r>
              <a:rPr sz="1050" b="0" i="0">
                <a:solidFill>
                  <a:srgbClr val="17365D"/>
                </a:solidFill>
                <a:latin typeface="Aptos"/>
              </a:rPr>
              <a:t>In the Uglies, teenagers conform to a standard prettiness by undergoing surgery.</a:t>
            </a:r>
          </a:p>
        </p:txBody>
      </p:sp>
      <p:sp>
        <p:nvSpPr>
          <p:cNvPr id="22" name="Rounded Rectangle 21"/>
          <p:cNvSpPr/>
          <p:nvPr/>
        </p:nvSpPr>
        <p:spPr>
          <a:xfrm>
            <a:off x="1056132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cell8_2_T"/>
          <p:cNvSpPr txBox="1"/>
          <p:nvPr/>
        </p:nvSpPr>
        <p:spPr>
          <a:xfrm>
            <a:off x="1056132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24" name="Rounded Rectangle 23"/>
          <p:cNvSpPr/>
          <p:nvPr/>
        </p:nvSpPr>
        <p:spPr>
          <a:xfrm>
            <a:off x="1092708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cell8_2_F"/>
          <p:cNvSpPr txBox="1"/>
          <p:nvPr/>
        </p:nvSpPr>
        <p:spPr>
          <a:xfrm>
            <a:off x="1092708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26" name="Rounded Rectangle 25"/>
          <p:cNvSpPr/>
          <p:nvPr/>
        </p:nvSpPr>
        <p:spPr>
          <a:xfrm>
            <a:off x="11292840" y="2679192"/>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cell8_2_NG"/>
          <p:cNvSpPr txBox="1"/>
          <p:nvPr/>
        </p:nvSpPr>
        <p:spPr>
          <a:xfrm>
            <a:off x="11292840" y="2706624"/>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28" name="ans8_2"/>
          <p:cNvSpPr txBox="1"/>
          <p:nvPr/>
        </p:nvSpPr>
        <p:spPr>
          <a:xfrm>
            <a:off x="10561320" y="2670048"/>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29" name="pct8_2"/>
          <p:cNvSpPr txBox="1"/>
          <p:nvPr/>
        </p:nvSpPr>
        <p:spPr>
          <a:xfrm>
            <a:off x="11521440" y="2706624"/>
            <a:ext cx="640080" cy="237744"/>
          </a:xfrm>
          <a:prstGeom prst="rect">
            <a:avLst/>
          </a:prstGeom>
          <a:noFill/>
        </p:spPr>
        <p:txBody>
          <a:bodyPr wrap="square" anchor="t" lIns="0" rIns="0" tIns="0" bIns="0">
            <a:spAutoFit/>
          </a:bodyPr>
          <a:lstStyle/>
          <a:p>
            <a:pPr algn="r"/>
            <a:r>
              <a:rPr sz="900" b="1" i="0">
                <a:solidFill>
                  <a:srgbClr val="FF0000"/>
                </a:solidFill>
                <a:latin typeface="Aptos"/>
              </a:rPr>
              <a:t>88%</a:t>
            </a:r>
          </a:p>
        </p:txBody>
      </p:sp>
      <p:sp>
        <p:nvSpPr>
          <p:cNvPr id="30" name="q8_stmt3"/>
          <p:cNvSpPr txBox="1"/>
          <p:nvPr/>
        </p:nvSpPr>
        <p:spPr>
          <a:xfrm>
            <a:off x="6492240" y="3419856"/>
            <a:ext cx="3977639" cy="502920"/>
          </a:xfrm>
          <a:prstGeom prst="rect">
            <a:avLst/>
          </a:prstGeom>
          <a:noFill/>
        </p:spPr>
        <p:txBody>
          <a:bodyPr wrap="square" anchor="t" lIns="0" rIns="0" tIns="0" bIns="0">
            <a:spAutoFit/>
          </a:bodyPr>
          <a:lstStyle/>
          <a:p>
            <a:pPr algn="l"/>
            <a:r>
              <a:rPr sz="1050" b="1" i="0">
                <a:solidFill>
                  <a:srgbClr val="17365D"/>
                </a:solidFill>
                <a:latin typeface="Aptos"/>
              </a:rPr>
              <a:t>(k)  </a:t>
            </a:r>
            <a:r>
              <a:rPr sz="1050" b="0" i="0">
                <a:solidFill>
                  <a:srgbClr val="17365D"/>
                </a:solidFill>
                <a:latin typeface="Aptos"/>
              </a:rPr>
              <a:t>Most participants of the Internet discussion board are teenagers.</a:t>
            </a:r>
          </a:p>
        </p:txBody>
      </p:sp>
      <p:sp>
        <p:nvSpPr>
          <p:cNvPr id="31" name="Rounded Rectangle 30"/>
          <p:cNvSpPr/>
          <p:nvPr/>
        </p:nvSpPr>
        <p:spPr>
          <a:xfrm>
            <a:off x="10561320" y="341985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cell8_3_T"/>
          <p:cNvSpPr txBox="1"/>
          <p:nvPr/>
        </p:nvSpPr>
        <p:spPr>
          <a:xfrm>
            <a:off x="10561320" y="3447288"/>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33" name="Rounded Rectangle 32"/>
          <p:cNvSpPr/>
          <p:nvPr/>
        </p:nvSpPr>
        <p:spPr>
          <a:xfrm>
            <a:off x="10927080" y="341985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cell8_3_F"/>
          <p:cNvSpPr txBox="1"/>
          <p:nvPr/>
        </p:nvSpPr>
        <p:spPr>
          <a:xfrm>
            <a:off x="10927080" y="3447288"/>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35" name="Rounded Rectangle 34"/>
          <p:cNvSpPr/>
          <p:nvPr/>
        </p:nvSpPr>
        <p:spPr>
          <a:xfrm>
            <a:off x="11292840" y="3419856"/>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cell8_3_NG"/>
          <p:cNvSpPr txBox="1"/>
          <p:nvPr/>
        </p:nvSpPr>
        <p:spPr>
          <a:xfrm>
            <a:off x="11292840" y="3447288"/>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37" name="ans8_3"/>
          <p:cNvSpPr txBox="1"/>
          <p:nvPr/>
        </p:nvSpPr>
        <p:spPr>
          <a:xfrm>
            <a:off x="11292840" y="3410712"/>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38" name="pct8_3"/>
          <p:cNvSpPr txBox="1"/>
          <p:nvPr/>
        </p:nvSpPr>
        <p:spPr>
          <a:xfrm>
            <a:off x="11521440" y="3447288"/>
            <a:ext cx="640080" cy="237744"/>
          </a:xfrm>
          <a:prstGeom prst="rect">
            <a:avLst/>
          </a:prstGeom>
          <a:noFill/>
        </p:spPr>
        <p:txBody>
          <a:bodyPr wrap="square" anchor="t" lIns="0" rIns="0" tIns="0" bIns="0">
            <a:spAutoFit/>
          </a:bodyPr>
          <a:lstStyle/>
          <a:p>
            <a:pPr algn="r"/>
            <a:r>
              <a:rPr sz="900" b="1" i="0">
                <a:solidFill>
                  <a:srgbClr val="FF0000"/>
                </a:solidFill>
                <a:latin typeface="Aptos"/>
              </a:rPr>
              <a:t>87%</a:t>
            </a:r>
          </a:p>
        </p:txBody>
      </p:sp>
      <p:sp>
        <p:nvSpPr>
          <p:cNvPr id="39" name="q8_stmt4"/>
          <p:cNvSpPr txBox="1"/>
          <p:nvPr/>
        </p:nvSpPr>
        <p:spPr>
          <a:xfrm>
            <a:off x="6492240" y="4160520"/>
            <a:ext cx="3977639" cy="502920"/>
          </a:xfrm>
          <a:prstGeom prst="rect">
            <a:avLst/>
          </a:prstGeom>
          <a:noFill/>
        </p:spPr>
        <p:txBody>
          <a:bodyPr wrap="square" anchor="t" lIns="0" rIns="0" tIns="0" bIns="0">
            <a:spAutoFit/>
          </a:bodyPr>
          <a:lstStyle/>
          <a:p>
            <a:pPr algn="l"/>
            <a:r>
              <a:rPr sz="1050" b="1" i="0">
                <a:solidFill>
                  <a:srgbClr val="17365D"/>
                </a:solidFill>
                <a:latin typeface="Aptos"/>
              </a:rPr>
              <a:t>(l)  </a:t>
            </a:r>
            <a:r>
              <a:rPr sz="1050" b="0" i="0">
                <a:solidFill>
                  <a:srgbClr val="17365D"/>
                </a:solidFill>
                <a:latin typeface="Aptos"/>
              </a:rPr>
              <a:t>Brave New World and 1984 were written for American schoolchildren.</a:t>
            </a:r>
          </a:p>
        </p:txBody>
      </p:sp>
      <p:sp>
        <p:nvSpPr>
          <p:cNvPr id="40" name="Rounded Rectangle 39"/>
          <p:cNvSpPr/>
          <p:nvPr/>
        </p:nvSpPr>
        <p:spPr>
          <a:xfrm>
            <a:off x="10561320" y="416052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ell8_4_T"/>
          <p:cNvSpPr txBox="1"/>
          <p:nvPr/>
        </p:nvSpPr>
        <p:spPr>
          <a:xfrm>
            <a:off x="10561320" y="4187952"/>
            <a:ext cx="329184" cy="237744"/>
          </a:xfrm>
          <a:prstGeom prst="rect">
            <a:avLst/>
          </a:prstGeom>
          <a:noFill/>
        </p:spPr>
        <p:txBody>
          <a:bodyPr wrap="square" anchor="t" lIns="0" rIns="0" tIns="0" bIns="0">
            <a:spAutoFit/>
          </a:bodyPr>
          <a:lstStyle/>
          <a:p>
            <a:pPr algn="ctr"/>
            <a:r>
              <a:rPr sz="1000" b="1" i="0">
                <a:solidFill>
                  <a:srgbClr val="2F75B5"/>
                </a:solidFill>
                <a:latin typeface="Aptos"/>
              </a:rPr>
              <a:t>T</a:t>
            </a:r>
          </a:p>
        </p:txBody>
      </p:sp>
      <p:sp>
        <p:nvSpPr>
          <p:cNvPr id="42" name="Rounded Rectangle 41"/>
          <p:cNvSpPr/>
          <p:nvPr/>
        </p:nvSpPr>
        <p:spPr>
          <a:xfrm>
            <a:off x="10927080" y="416052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ell8_4_F"/>
          <p:cNvSpPr txBox="1"/>
          <p:nvPr/>
        </p:nvSpPr>
        <p:spPr>
          <a:xfrm>
            <a:off x="10927080" y="4187952"/>
            <a:ext cx="329184" cy="237744"/>
          </a:xfrm>
          <a:prstGeom prst="rect">
            <a:avLst/>
          </a:prstGeom>
          <a:noFill/>
        </p:spPr>
        <p:txBody>
          <a:bodyPr wrap="square" anchor="t" lIns="0" rIns="0" tIns="0" bIns="0">
            <a:spAutoFit/>
          </a:bodyPr>
          <a:lstStyle/>
          <a:p>
            <a:pPr algn="ctr"/>
            <a:r>
              <a:rPr sz="1000" b="1" i="0">
                <a:solidFill>
                  <a:srgbClr val="2F75B5"/>
                </a:solidFill>
                <a:latin typeface="Aptos"/>
              </a:rPr>
              <a:t>F</a:t>
            </a:r>
          </a:p>
        </p:txBody>
      </p:sp>
      <p:sp>
        <p:nvSpPr>
          <p:cNvPr id="44" name="Rounded Rectangle 43"/>
          <p:cNvSpPr/>
          <p:nvPr/>
        </p:nvSpPr>
        <p:spPr>
          <a:xfrm>
            <a:off x="11292840" y="4160520"/>
            <a:ext cx="329184" cy="274320"/>
          </a:xfrm>
          <a:prstGeom prst="roundRect">
            <a:avLst/>
          </a:prstGeom>
          <a:solidFill>
            <a:srgbClr val="EA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ell8_4_NG"/>
          <p:cNvSpPr txBox="1"/>
          <p:nvPr/>
        </p:nvSpPr>
        <p:spPr>
          <a:xfrm>
            <a:off x="11292840" y="4187952"/>
            <a:ext cx="329184" cy="237744"/>
          </a:xfrm>
          <a:prstGeom prst="rect">
            <a:avLst/>
          </a:prstGeom>
          <a:noFill/>
        </p:spPr>
        <p:txBody>
          <a:bodyPr wrap="square" anchor="t" lIns="0" rIns="0" tIns="0" bIns="0">
            <a:spAutoFit/>
          </a:bodyPr>
          <a:lstStyle/>
          <a:p>
            <a:pPr algn="ctr"/>
            <a:r>
              <a:rPr sz="1000" b="1" i="0">
                <a:solidFill>
                  <a:srgbClr val="2F75B5"/>
                </a:solidFill>
                <a:latin typeface="Aptos"/>
              </a:rPr>
              <a:t>NG</a:t>
            </a:r>
          </a:p>
        </p:txBody>
      </p:sp>
      <p:sp>
        <p:nvSpPr>
          <p:cNvPr id="46" name="ans8_4"/>
          <p:cNvSpPr txBox="1"/>
          <p:nvPr/>
        </p:nvSpPr>
        <p:spPr>
          <a:xfrm>
            <a:off x="10927080" y="4151376"/>
            <a:ext cx="329184" cy="292608"/>
          </a:xfrm>
          <a:prstGeom prst="rect">
            <a:avLst/>
          </a:prstGeom>
          <a:noFill/>
        </p:spPr>
        <p:txBody>
          <a:bodyPr wrap="square" anchor="t" lIns="0" rIns="0" tIns="0" bIns="0">
            <a:spAutoFit/>
          </a:bodyPr>
          <a:lstStyle/>
          <a:p>
            <a:pPr algn="ctr"/>
            <a:r>
              <a:rPr sz="1700" b="1" i="0">
                <a:solidFill>
                  <a:srgbClr val="FF0000"/>
                </a:solidFill>
                <a:latin typeface="Aptos"/>
              </a:rPr>
              <a:t>✓</a:t>
            </a:r>
          </a:p>
        </p:txBody>
      </p:sp>
      <p:sp>
        <p:nvSpPr>
          <p:cNvPr id="47" name="pct8_4"/>
          <p:cNvSpPr txBox="1"/>
          <p:nvPr/>
        </p:nvSpPr>
        <p:spPr>
          <a:xfrm>
            <a:off x="11521440" y="4187952"/>
            <a:ext cx="640080" cy="237744"/>
          </a:xfrm>
          <a:prstGeom prst="rect">
            <a:avLst/>
          </a:prstGeom>
          <a:noFill/>
        </p:spPr>
        <p:txBody>
          <a:bodyPr wrap="square" anchor="t" lIns="0" rIns="0" tIns="0" bIns="0">
            <a:spAutoFit/>
          </a:bodyPr>
          <a:lstStyle/>
          <a:p>
            <a:pPr algn="r"/>
            <a:r>
              <a:rPr sz="900" b="1" i="0">
                <a:solidFill>
                  <a:srgbClr val="FF0000"/>
                </a:solidFill>
                <a:latin typeface="Aptos"/>
              </a:rPr>
              <a:t>68%</a:t>
            </a:r>
          </a:p>
        </p:txBody>
      </p:sp>
      <p:pic>
        <p:nvPicPr>
          <p:cNvPr id="48" name="crop8_1" descr="q8a_2013B2_Q52.png"/>
          <p:cNvPicPr>
            <a:picLocks noChangeAspect="1"/>
          </p:cNvPicPr>
          <p:nvPr/>
        </p:nvPicPr>
        <p:blipFill>
          <a:blip r:embed="rId2"/>
          <a:stretch>
            <a:fillRect/>
          </a:stretch>
        </p:blipFill>
        <p:spPr>
          <a:xfrm>
            <a:off x="411480" y="1417320"/>
            <a:ext cx="3087503" cy="1353878"/>
          </a:xfrm>
          <a:prstGeom prst="rect">
            <a:avLst/>
          </a:prstGeom>
        </p:spPr>
      </p:pic>
      <p:sp>
        <p:nvSpPr>
          <p:cNvPr id="49" name="cap8_1"/>
          <p:cNvSpPr txBox="1"/>
          <p:nvPr/>
        </p:nvSpPr>
        <p:spPr>
          <a:xfrm>
            <a:off x="411480" y="4710061"/>
            <a:ext cx="3087503" cy="228600"/>
          </a:xfrm>
          <a:prstGeom prst="rect">
            <a:avLst/>
          </a:prstGeom>
          <a:noFill/>
        </p:spPr>
        <p:txBody>
          <a:bodyPr wrap="square" anchor="t" lIns="0" rIns="0" tIns="0" bIns="0">
            <a:spAutoFit/>
          </a:bodyPr>
          <a:lstStyle/>
          <a:p>
            <a:pPr algn="l"/>
            <a:r>
              <a:rPr sz="950" b="1" i="0">
                <a:solidFill>
                  <a:srgbClr val="5B7083"/>
                </a:solidFill>
                <a:latin typeface="Aptos"/>
              </a:rPr>
              <a:t>Text 4, ¶4</a:t>
            </a:r>
          </a:p>
        </p:txBody>
      </p:sp>
      <p:pic>
        <p:nvPicPr>
          <p:cNvPr id="50" name="crop8_2" descr="q8b_2013B2_Q52.png"/>
          <p:cNvPicPr>
            <a:picLocks noChangeAspect="1"/>
          </p:cNvPicPr>
          <p:nvPr/>
        </p:nvPicPr>
        <p:blipFill>
          <a:blip r:embed="rId3"/>
          <a:stretch>
            <a:fillRect/>
          </a:stretch>
        </p:blipFill>
        <p:spPr>
          <a:xfrm>
            <a:off x="3626999" y="1417320"/>
            <a:ext cx="2773800" cy="3219589"/>
          </a:xfrm>
          <a:prstGeom prst="rect">
            <a:avLst/>
          </a:prstGeom>
        </p:spPr>
      </p:pic>
      <p:sp>
        <p:nvSpPr>
          <p:cNvPr id="51" name="cap8_2"/>
          <p:cNvSpPr txBox="1"/>
          <p:nvPr/>
        </p:nvSpPr>
        <p:spPr>
          <a:xfrm>
            <a:off x="3626999" y="4710061"/>
            <a:ext cx="2773800" cy="228600"/>
          </a:xfrm>
          <a:prstGeom prst="rect">
            <a:avLst/>
          </a:prstGeom>
          <a:noFill/>
        </p:spPr>
        <p:txBody>
          <a:bodyPr wrap="square" anchor="t" lIns="0" rIns="0" tIns="0" bIns="0">
            <a:spAutoFit/>
          </a:bodyPr>
          <a:lstStyle/>
          <a:p>
            <a:pPr algn="l"/>
            <a:r>
              <a:rPr sz="950" b="1" i="0">
                <a:solidFill>
                  <a:srgbClr val="5B7083"/>
                </a:solidFill>
                <a:latin typeface="Aptos"/>
              </a:rPr>
              <a:t>Text 4, ¶5</a:t>
            </a:r>
          </a:p>
        </p:txBody>
      </p:sp>
    </p:spTree>
  </p:cSld>
  <p:clrMapOvr>
    <a:masterClrMapping/>
  </p:clrMapOvr>
  <p:timing>
    <p:tnLst>
      <p:par>
        <p:cTn id="1" dur="indefinite" restart="never" nodeType="tmRoot">
          <p:childTnLst>
            <p:seq concurrent="1" nextAc="seek">
              <p:cTn id="2" dur="indefinite" nodeType="mainSeq">
                <p:childTnLst>
                  <p:par>
                    <p:cTn id="9" presetID="10" presetClass="entr" presetSubtype="0" fill="hold" nodeType="clickEffect">
                      <p:stCondLst>
                        <p:cond delay="0"/>
                      </p:stCondLst>
                      <p:childTnLst>
                        <p:set>
                          <p:cBhvr>
                            <p:cTn id="3" dur="1" fill="hold">
                              <p:stCondLst>
                                <p:cond delay="0"/>
                              </p:stCondLst>
                            </p:cTn>
                            <p:tgtEl>
                              <p:spTgt spid="19"/>
                            </p:tgtEl>
                            <p:attrNameLst>
                              <p:attrName>style.visibility</p:attrName>
                            </p:attrNameLst>
                          </p:cBhvr>
                          <p:to>
                            <p:strVal val="visible"/>
                          </p:to>
                        </p:set>
                        <p:animEffect transition="in" filter="fade">
                          <p:cBhvr>
                            <p:cTn id="5" dur="500"/>
                            <p:tgtEl>
                              <p:spTgt spid="19"/>
                            </p:tgtEl>
                          </p:cBhvr>
                        </p:animEffect>
                        <p:set>
                          <p:cBhvr>
                            <p:cTn id="6"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par>
                    <p:cTn id="16" presetID="10"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set>
                          <p:cBhvr>
                            <p:cTn id="13" dur="1" fill="hold">
                              <p:stCondLst>
                                <p:cond delay="0"/>
                              </p:stCondLst>
                            </p:cTn>
                            <p:tgtEl>
                              <p:spTgt spid="29"/>
                            </p:tgtEl>
                            <p:attrNameLst>
                              <p:attrName>style.visibility</p:attrName>
                            </p:attrNameLst>
                          </p:cBhvr>
                          <p:to>
                            <p:strVal val="visible"/>
                          </p:to>
                        </p:set>
                        <p:animEffect transition="in" filter="fade">
                          <p:cBhvr>
                            <p:cTn id="15" dur="500"/>
                            <p:tgtEl>
                              <p:spTgt spid="29"/>
                            </p:tgtEl>
                          </p:cBhvr>
                        </p:animEffect>
                      </p:childTnLst>
                    </p:cTn>
                  </p:par>
                  <p:par>
                    <p:cTn id="23" presetID="10" presetClass="entr" presetSubtype="0" fill="hold"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fade">
                          <p:cBhvr>
                            <p:cTn id="19" dur="500"/>
                            <p:tgtEl>
                              <p:spTgt spid="37"/>
                            </p:tgtEl>
                          </p:cBhvr>
                        </p:animEffect>
                        <p:set>
                          <p:cBhvr>
                            <p:cTn id="20" dur="1" fill="hold">
                              <p:stCondLst>
                                <p:cond delay="0"/>
                              </p:stCondLst>
                            </p:cTn>
                            <p:tgtEl>
                              <p:spTgt spid="38"/>
                            </p:tgtEl>
                            <p:attrNameLst>
                              <p:attrName>style.visibility</p:attrName>
                            </p:attrNameLst>
                          </p:cBhvr>
                          <p:to>
                            <p:strVal val="visible"/>
                          </p:to>
                        </p:set>
                        <p:animEffect transition="in" filter="fade">
                          <p:cBhvr>
                            <p:cTn id="22" dur="500"/>
                            <p:tgtEl>
                              <p:spTgt spid="38"/>
                            </p:tgtEl>
                          </p:cBhvr>
                        </p:animEffect>
                      </p:childTnLst>
                    </p:cTn>
                  </p:par>
                  <p:par>
                    <p:cTn id="30" presetID="10" presetClass="entr" presetSubtype="0"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animEffect transition="in" filter="fade">
                          <p:cBhvr>
                            <p:cTn id="26" dur="500"/>
                            <p:tgtEl>
                              <p:spTgt spid="46"/>
                            </p:tgtEl>
                          </p:cBhvr>
                        </p:animEffect>
                        <p:set>
                          <p:cBhvr>
                            <p:cTn id="27" dur="1" fill="hold">
                              <p:stCondLst>
                                <p:cond delay="0"/>
                              </p:stCondLst>
                            </p:cTn>
                            <p:tgtEl>
                              <p:spTgt spid="47"/>
                            </p:tgtEl>
                            <p:attrNameLst>
                              <p:attrName>style.visibility</p:attrName>
                            </p:attrNameLst>
                          </p:cBhvr>
                          <p:to>
                            <p:strVal val="visible"/>
                          </p:to>
                        </p:set>
                        <p:animEffect transition="in" filter="fade">
                          <p:cBhvr>
                            <p:cTn id="29" dur="500"/>
                            <p:tgtEl>
                              <p:spTgt spid="47"/>
                            </p:tgtEl>
                          </p:cBhvr>
                        </p:animEffect>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